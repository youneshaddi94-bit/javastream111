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8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7502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598777"/>
            <a:ext cx="8286750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kern="0" spc="-1" dirty="0">
                <a:solidFill>
                  <a:srgbClr val="FBBF24"/>
                </a:solidFill>
              </a:rPr>
              <a:t>Les Streams
en Java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428625" y="2701761"/>
            <a:ext cx="8286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2D3EE"/>
                </a:solidFill>
              </a:rPr>
              <a:t>&gt; Programmation Fonctionnelle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428625" y="3244686"/>
            <a:ext cx="734175" cy="1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E0E7FF"/>
                </a:solidFill>
              </a:rPr>
              <a:t>Auteur: A, Larhlimi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428625" y="3394704"/>
            <a:ext cx="82867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E0E7FF"/>
                </a:solidFill>
              </a:rPr>
              <a:t>Novembre 2025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7878552" y="1720235"/>
            <a:ext cx="83682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727" dirty="0">
                <a:solidFill>
                  <a:srgbClr val="FB923C">
                    <a:alpha val="70000"/>
                  </a:srgbClr>
                </a:solidFill>
              </a:rPr>
              <a:t>// Pipeline Stream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7677494" y="1935970"/>
            <a:ext cx="103788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727" dirty="0">
                <a:solidFill>
                  <a:srgbClr val="FBBF24"/>
                </a:solidFill>
              </a:rPr>
              <a:t>clients</a:t>
            </a:r>
            <a:r>
              <a:rPr lang="en-US" sz="727" dirty="0">
                <a:solidFill>
                  <a:srgbClr val="E0E7FF"/>
                </a:solidFill>
              </a:rPr>
              <a:t>.stream()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7677494" y="2173137"/>
            <a:ext cx="103788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727" dirty="0">
                <a:solidFill>
                  <a:srgbClr val="E0E7FF"/>
                </a:solidFill>
              </a:rPr>
              <a:t>.</a:t>
            </a:r>
            <a:r>
              <a:rPr lang="en-US" sz="727" dirty="0">
                <a:solidFill>
                  <a:srgbClr val="FBBF24"/>
                </a:solidFill>
              </a:rPr>
              <a:t>filter</a:t>
            </a:r>
            <a:r>
              <a:rPr lang="en-US" sz="727" dirty="0">
                <a:solidFill>
                  <a:srgbClr val="E0E7FF"/>
                </a:solidFill>
              </a:rPr>
              <a:t>(c → c.CA &gt; 500k)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7677494" y="2410304"/>
            <a:ext cx="103788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727" dirty="0">
                <a:solidFill>
                  <a:srgbClr val="E0E7FF"/>
                </a:solidFill>
              </a:rPr>
              <a:t>.</a:t>
            </a:r>
            <a:r>
              <a:rPr lang="en-US" sz="727" dirty="0">
                <a:solidFill>
                  <a:srgbClr val="FBBF24"/>
                </a:solidFill>
              </a:rPr>
              <a:t>sorted</a:t>
            </a:r>
            <a:r>
              <a:rPr lang="en-US" sz="727" dirty="0">
                <a:solidFill>
                  <a:srgbClr val="E0E7FF"/>
                </a:solidFill>
              </a:rPr>
              <a:t>(byName)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7677494" y="2647471"/>
            <a:ext cx="103788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727" dirty="0">
                <a:solidFill>
                  <a:srgbClr val="E0E7FF"/>
                </a:solidFill>
              </a:rPr>
              <a:t>.</a:t>
            </a:r>
            <a:r>
              <a:rPr lang="en-US" sz="727" dirty="0">
                <a:solidFill>
                  <a:srgbClr val="FBBF24"/>
                </a:solidFill>
              </a:rPr>
              <a:t>collect</a:t>
            </a:r>
            <a:r>
              <a:rPr lang="en-US" sz="727" dirty="0">
                <a:solidFill>
                  <a:srgbClr val="E0E7FF"/>
                </a:solidFill>
              </a:rPr>
              <a:t>(toList())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8232502" y="2991794"/>
            <a:ext cx="48287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727" dirty="0">
                <a:solidFill>
                  <a:srgbClr val="FB923C">
                    <a:alpha val="70000"/>
                  </a:srgbClr>
                </a:solidFill>
              </a:rPr>
              <a:t>// Résultat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7925265" y="3228961"/>
            <a:ext cx="79011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727" dirty="0">
                <a:solidFill>
                  <a:srgbClr val="22D3EE"/>
                </a:solidFill>
              </a:rPr>
              <a:t>[Client, Client, ...]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FBBF24"/>
                </a:solidFill>
              </a:rPr>
              <a:t>&gt; Qu'est-ce qu'un Stream ?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428625" y="1071563"/>
            <a:ext cx="8286750" cy="965802"/>
          </a:xfrm>
          <a:prstGeom prst="rect">
            <a:avLst/>
          </a:prstGeom>
          <a:solidFill>
            <a:srgbClr val="1A1F3A">
              <a:alpha val="50000"/>
            </a:srgbClr>
          </a:solidFill>
          <a:ln w="9144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Text 2"/>
          <p:cNvSpPr/>
          <p:nvPr/>
        </p:nvSpPr>
        <p:spPr>
          <a:xfrm>
            <a:off x="571500" y="1294442"/>
            <a:ext cx="24288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21" kern="0" spc="1" dirty="0">
                <a:solidFill>
                  <a:srgbClr val="FB923C"/>
                </a:solidFill>
              </a:rPr>
              <a:t>① Source</a:t>
            </a:r>
            <a:endParaRPr lang="en-US" sz="621" dirty="0"/>
          </a:p>
        </p:txBody>
      </p:sp>
      <p:sp>
        <p:nvSpPr>
          <p:cNvPr id="6" name="Text 3"/>
          <p:cNvSpPr/>
          <p:nvPr/>
        </p:nvSpPr>
        <p:spPr>
          <a:xfrm>
            <a:off x="571500" y="1480179"/>
            <a:ext cx="2428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2D3EE"/>
                </a:solidFill>
              </a:rPr>
              <a:t>List&lt;Client&gt;
Collection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3107531" y="1440163"/>
            <a:ext cx="142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BBF24"/>
                </a:solidFill>
              </a:rPr>
              <a:t>→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357563" y="1214438"/>
            <a:ext cx="24288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21" kern="0" spc="1" dirty="0">
                <a:solidFill>
                  <a:srgbClr val="FB923C"/>
                </a:solidFill>
              </a:rPr>
              <a:t>② Intermédiaires</a:t>
            </a:r>
            <a:endParaRPr lang="en-US" sz="621" dirty="0"/>
          </a:p>
        </p:txBody>
      </p:sp>
      <p:sp>
        <p:nvSpPr>
          <p:cNvPr id="9" name="Text 6"/>
          <p:cNvSpPr/>
          <p:nvPr/>
        </p:nvSpPr>
        <p:spPr>
          <a:xfrm>
            <a:off x="3357563" y="1400175"/>
            <a:ext cx="24288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2D3EE"/>
                </a:solidFill>
              </a:rPr>
              <a:t>filter()
map()
sorted()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5893594" y="1440163"/>
            <a:ext cx="142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BBF24"/>
                </a:solidFill>
              </a:rPr>
              <a:t>→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143625" y="1214438"/>
            <a:ext cx="24288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21" kern="0" spc="1" dirty="0">
                <a:solidFill>
                  <a:srgbClr val="FB923C"/>
                </a:solidFill>
              </a:rPr>
              <a:t>③ Terminale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6143625" y="1400175"/>
            <a:ext cx="24288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2D3EE"/>
                </a:solidFill>
              </a:rPr>
              <a:t>collect()
reduce()
forEach()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428625" y="2308827"/>
            <a:ext cx="4000500" cy="1095868"/>
          </a:xfrm>
          <a:prstGeom prst="rect">
            <a:avLst/>
          </a:prstGeom>
          <a:solidFill>
            <a:srgbClr val="22D3EE">
              <a:alpha val="5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4" name="Shape 11"/>
          <p:cNvSpPr/>
          <p:nvPr/>
        </p:nvSpPr>
        <p:spPr>
          <a:xfrm>
            <a:off x="428625" y="2308827"/>
            <a:ext cx="21431" cy="109586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5" name="Text 12"/>
          <p:cNvSpPr/>
          <p:nvPr/>
        </p:nvSpPr>
        <p:spPr>
          <a:xfrm>
            <a:off x="571500" y="2451702"/>
            <a:ext cx="37147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BBF24"/>
                </a:solidFill>
              </a:rPr>
              <a:t>Définition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571500" y="2673158"/>
            <a:ext cx="37147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E0E7FF"/>
                </a:solidFill>
              </a:rPr>
              <a:t>Un Stream est une </a:t>
            </a:r>
            <a:r>
              <a:rPr lang="en-US" sz="683" b="1" dirty="0">
                <a:solidFill>
                  <a:srgbClr val="22D3EE"/>
                </a:solidFill>
              </a:rPr>
              <a:t>séquence d'éléments</a:t>
            </a:r>
            <a:r>
              <a:rPr lang="en-US" sz="727" dirty="0">
                <a:solidFill>
                  <a:srgbClr val="E0E7FF"/>
                </a:solidFill>
              </a:rPr>
              <a:t> supportant des opérations agrégées. Introduit avec </a:t>
            </a:r>
            <a:r>
              <a:rPr lang="en-US" sz="683" b="1" dirty="0">
                <a:solidFill>
                  <a:srgbClr val="22D3EE"/>
                </a:solidFill>
              </a:rPr>
              <a:t>Java 8</a:t>
            </a:r>
            <a:r>
              <a:rPr lang="en-US" sz="727" dirty="0">
                <a:solidFill>
                  <a:srgbClr val="E0E7FF"/>
                </a:solidFill>
              </a:rPr>
              <a:t>.</a:t>
            </a:r>
            <a:endParaRPr lang="en-US" sz="727" dirty="0"/>
          </a:p>
        </p:txBody>
      </p:sp>
      <p:sp>
        <p:nvSpPr>
          <p:cNvPr id="17" name="Shape 14"/>
          <p:cNvSpPr/>
          <p:nvPr/>
        </p:nvSpPr>
        <p:spPr>
          <a:xfrm>
            <a:off x="4714875" y="2308827"/>
            <a:ext cx="4000500" cy="1095868"/>
          </a:xfrm>
          <a:prstGeom prst="rect">
            <a:avLst/>
          </a:prstGeom>
          <a:solidFill>
            <a:srgbClr val="22D3EE">
              <a:alpha val="5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8" name="Shape 15"/>
          <p:cNvSpPr/>
          <p:nvPr/>
        </p:nvSpPr>
        <p:spPr>
          <a:xfrm>
            <a:off x="4714875" y="2308827"/>
            <a:ext cx="21431" cy="109586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9" name="Text 16"/>
          <p:cNvSpPr/>
          <p:nvPr/>
        </p:nvSpPr>
        <p:spPr>
          <a:xfrm>
            <a:off x="4857750" y="2451702"/>
            <a:ext cx="37147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BBF24"/>
                </a:solidFill>
              </a:rPr>
              <a:t>Programmation Déclarative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4857750" y="2673158"/>
            <a:ext cx="37147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E0E7FF"/>
                </a:solidFill>
              </a:rPr>
              <a:t>Exprimer </a:t>
            </a:r>
            <a:r>
              <a:rPr lang="en-US" sz="683" b="1" dirty="0">
                <a:solidFill>
                  <a:srgbClr val="22D3EE"/>
                </a:solidFill>
              </a:rPr>
              <a:t>QUOI faire</a:t>
            </a:r>
            <a:r>
              <a:rPr lang="en-US" sz="727" dirty="0">
                <a:solidFill>
                  <a:srgbClr val="E0E7FF"/>
                </a:solidFill>
              </a:rPr>
              <a:t> plutôt que </a:t>
            </a:r>
            <a:r>
              <a:rPr lang="en-US" sz="683" b="1" dirty="0">
                <a:solidFill>
                  <a:srgbClr val="22D3EE"/>
                </a:solidFill>
              </a:rPr>
              <a:t>COMMENT le faire</a:t>
            </a:r>
            <a:r>
              <a:rPr lang="en-US" sz="727" dirty="0">
                <a:solidFill>
                  <a:srgbClr val="E0E7FF"/>
                </a:solidFill>
              </a:rPr>
              <a:t>. Code plus concis et lisible.</a:t>
            </a:r>
            <a:endParaRPr lang="en-US" sz="727" dirty="0"/>
          </a:p>
        </p:txBody>
      </p:sp>
      <p:sp>
        <p:nvSpPr>
          <p:cNvPr id="21" name="Shape 18"/>
          <p:cNvSpPr/>
          <p:nvPr/>
        </p:nvSpPr>
        <p:spPr>
          <a:xfrm>
            <a:off x="428625" y="3690445"/>
            <a:ext cx="4000500" cy="1095868"/>
          </a:xfrm>
          <a:prstGeom prst="rect">
            <a:avLst/>
          </a:prstGeom>
          <a:solidFill>
            <a:srgbClr val="22D3EE">
              <a:alpha val="5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2" name="Shape 19"/>
          <p:cNvSpPr/>
          <p:nvPr/>
        </p:nvSpPr>
        <p:spPr>
          <a:xfrm>
            <a:off x="428625" y="3690445"/>
            <a:ext cx="21431" cy="109586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3" name="Text 20"/>
          <p:cNvSpPr/>
          <p:nvPr/>
        </p:nvSpPr>
        <p:spPr>
          <a:xfrm>
            <a:off x="571500" y="3833320"/>
            <a:ext cx="37147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BBF24"/>
                </a:solidFill>
              </a:rPr>
              <a:t>Lazy Evaluation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571500" y="4054776"/>
            <a:ext cx="37147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E0E7FF"/>
                </a:solidFill>
              </a:rPr>
              <a:t>Les opérations intermédiaires sont </a:t>
            </a:r>
            <a:r>
              <a:rPr lang="en-US" sz="683" b="1" dirty="0">
                <a:solidFill>
                  <a:srgbClr val="22D3EE"/>
                </a:solidFill>
              </a:rPr>
              <a:t>paresseuses</a:t>
            </a:r>
            <a:r>
              <a:rPr lang="en-US" sz="727" dirty="0">
                <a:solidFill>
                  <a:srgbClr val="E0E7FF"/>
                </a:solidFill>
              </a:rPr>
              <a:t>. Elles ne s'exécutent que lors de l'appel de l'opération terminale.</a:t>
            </a:r>
            <a:endParaRPr lang="en-US" sz="727" dirty="0"/>
          </a:p>
        </p:txBody>
      </p:sp>
      <p:sp>
        <p:nvSpPr>
          <p:cNvPr id="25" name="Shape 22"/>
          <p:cNvSpPr/>
          <p:nvPr/>
        </p:nvSpPr>
        <p:spPr>
          <a:xfrm>
            <a:off x="4714875" y="3690445"/>
            <a:ext cx="4000500" cy="1095868"/>
          </a:xfrm>
          <a:prstGeom prst="rect">
            <a:avLst/>
          </a:prstGeom>
          <a:solidFill>
            <a:srgbClr val="22D3EE">
              <a:alpha val="5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6" name="Shape 23"/>
          <p:cNvSpPr/>
          <p:nvPr/>
        </p:nvSpPr>
        <p:spPr>
          <a:xfrm>
            <a:off x="4714875" y="3690445"/>
            <a:ext cx="21431" cy="109586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7" name="Text 24"/>
          <p:cNvSpPr/>
          <p:nvPr/>
        </p:nvSpPr>
        <p:spPr>
          <a:xfrm>
            <a:off x="4857750" y="3833320"/>
            <a:ext cx="37147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BBF24"/>
                </a:solidFill>
              </a:rPr>
              <a:t>Immutabilité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4857750" y="4054776"/>
            <a:ext cx="37147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E0E7FF"/>
                </a:solidFill>
              </a:rPr>
              <a:t>Les Streams ne modifient </a:t>
            </a:r>
            <a:r>
              <a:rPr lang="en-US" sz="683" b="1" dirty="0">
                <a:solidFill>
                  <a:srgbClr val="22D3EE"/>
                </a:solidFill>
              </a:rPr>
              <a:t>jamais</a:t>
            </a:r>
            <a:r>
              <a:rPr lang="en-US" sz="727" dirty="0">
                <a:solidFill>
                  <a:srgbClr val="E0E7FF"/>
                </a:solidFill>
              </a:rPr>
              <a:t> la source de données. Ils produisent de nouveaux résultats.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FBBF24"/>
                </a:solidFill>
              </a:rPr>
              <a:t>&gt; La Classe Client : Modèle de Données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428625" y="1000125"/>
            <a:ext cx="4000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kern="0" spc="1" dirty="0">
                <a:solidFill>
                  <a:srgbClr val="FB923C"/>
                </a:solidFill>
              </a:rPr>
              <a:t>Structure de la Classe</a:t>
            </a:r>
            <a:endParaRPr lang="en-US" sz="584" dirty="0"/>
          </a:p>
        </p:txBody>
      </p:sp>
      <p:sp>
        <p:nvSpPr>
          <p:cNvPr id="5" name="Shape 2"/>
          <p:cNvSpPr/>
          <p:nvPr/>
        </p:nvSpPr>
        <p:spPr>
          <a:xfrm>
            <a:off x="428625" y="1200150"/>
            <a:ext cx="4000500" cy="1717179"/>
          </a:xfrm>
          <a:prstGeom prst="rect">
            <a:avLst/>
          </a:prstGeom>
          <a:solidFill>
            <a:srgbClr val="1A1F3A">
              <a:alpha val="70000"/>
            </a:srgbClr>
          </a:solidFill>
          <a:ln w="9144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6" name="Text 3"/>
          <p:cNvSpPr/>
          <p:nvPr/>
        </p:nvSpPr>
        <p:spPr>
          <a:xfrm>
            <a:off x="571500" y="1343025"/>
            <a:ext cx="37147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FBBF24"/>
                </a:solidFill>
              </a:rPr>
              <a:t>public class</a:t>
            </a:r>
            <a:r>
              <a:rPr lang="en-US" sz="674" dirty="0">
                <a:solidFill>
                  <a:srgbClr val="22D3EE"/>
                </a:solidFill>
              </a:rPr>
              <a:t>Client</a:t>
            </a:r>
            <a:r>
              <a:rPr lang="en-US" sz="674" dirty="0">
                <a:solidFill>
                  <a:srgbClr val="E0E7FF"/>
                </a:solidFill>
              </a:rPr>
              <a:t> {</a:t>
            </a:r>
            <a:endParaRPr lang="en-US" sz="634" dirty="0"/>
          </a:p>
        </p:txBody>
      </p:sp>
      <p:sp>
        <p:nvSpPr>
          <p:cNvPr id="7" name="Text 4"/>
          <p:cNvSpPr/>
          <p:nvPr/>
        </p:nvSpPr>
        <p:spPr>
          <a:xfrm>
            <a:off x="571500" y="1520168"/>
            <a:ext cx="37147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FBBF24"/>
                </a:solidFill>
              </a:rPr>
              <a:t>private final int</a:t>
            </a:r>
            <a:r>
              <a:rPr lang="en-US" sz="674" dirty="0">
                <a:solidFill>
                  <a:srgbClr val="E0E7FF"/>
                </a:solidFill>
              </a:rPr>
              <a:t> idClient;</a:t>
            </a:r>
            <a:endParaRPr lang="en-US" sz="634" dirty="0"/>
          </a:p>
        </p:txBody>
      </p:sp>
      <p:sp>
        <p:nvSpPr>
          <p:cNvPr id="8" name="Text 5"/>
          <p:cNvSpPr/>
          <p:nvPr/>
        </p:nvSpPr>
        <p:spPr>
          <a:xfrm>
            <a:off x="571500" y="1697310"/>
            <a:ext cx="37147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FBBF24"/>
                </a:solidFill>
              </a:rPr>
              <a:t>private final</a:t>
            </a:r>
            <a:r>
              <a:rPr lang="en-US" sz="674" dirty="0">
                <a:solidFill>
                  <a:srgbClr val="22D3EE"/>
                </a:solidFill>
              </a:rPr>
              <a:t>String</a:t>
            </a:r>
            <a:r>
              <a:rPr lang="en-US" sz="674" dirty="0">
                <a:solidFill>
                  <a:srgbClr val="E0E7FF"/>
                </a:solidFill>
              </a:rPr>
              <a:t> nom;</a:t>
            </a:r>
            <a:endParaRPr lang="en-US" sz="634" dirty="0"/>
          </a:p>
        </p:txBody>
      </p:sp>
      <p:sp>
        <p:nvSpPr>
          <p:cNvPr id="9" name="Text 6"/>
          <p:cNvSpPr/>
          <p:nvPr/>
        </p:nvSpPr>
        <p:spPr>
          <a:xfrm>
            <a:off x="571500" y="1874453"/>
            <a:ext cx="37147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FBBF24"/>
                </a:solidFill>
              </a:rPr>
              <a:t>private final</a:t>
            </a:r>
            <a:r>
              <a:rPr lang="en-US" sz="674" dirty="0">
                <a:solidFill>
                  <a:srgbClr val="22D3EE"/>
                </a:solidFill>
              </a:rPr>
              <a:t>String</a:t>
            </a:r>
            <a:r>
              <a:rPr lang="en-US" sz="674" dirty="0">
                <a:solidFill>
                  <a:srgbClr val="E0E7FF"/>
                </a:solidFill>
              </a:rPr>
              <a:t> adresse;</a:t>
            </a:r>
            <a:endParaRPr lang="en-US" sz="634" dirty="0"/>
          </a:p>
        </p:txBody>
      </p:sp>
      <p:sp>
        <p:nvSpPr>
          <p:cNvPr id="10" name="Text 7"/>
          <p:cNvSpPr/>
          <p:nvPr/>
        </p:nvSpPr>
        <p:spPr>
          <a:xfrm>
            <a:off x="571500" y="2051596"/>
            <a:ext cx="37147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FBBF24"/>
                </a:solidFill>
              </a:rPr>
              <a:t>private final double</a:t>
            </a:r>
            <a:r>
              <a:rPr lang="en-US" sz="674" dirty="0">
                <a:solidFill>
                  <a:srgbClr val="E0E7FF"/>
                </a:solidFill>
              </a:rPr>
              <a:t> chiffreAffaire;</a:t>
            </a:r>
            <a:endParaRPr lang="en-US" sz="634" dirty="0"/>
          </a:p>
        </p:txBody>
      </p:sp>
      <p:sp>
        <p:nvSpPr>
          <p:cNvPr id="11" name="Text 8"/>
          <p:cNvSpPr/>
          <p:nvPr/>
        </p:nvSpPr>
        <p:spPr>
          <a:xfrm>
            <a:off x="571500" y="2239454"/>
            <a:ext cx="102194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74" dirty="0">
                <a:solidFill>
                  <a:srgbClr val="FB923C">
                    <a:alpha val="70000"/>
                  </a:srgbClr>
                </a:solidFill>
              </a:rPr>
              <a:t>// Constructeur, Getters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571500" y="2416597"/>
            <a:ext cx="97690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74" dirty="0">
                <a:solidFill>
                  <a:srgbClr val="FB923C">
                    <a:alpha val="70000"/>
                  </a:srgbClr>
                </a:solidFill>
              </a:rPr>
              <a:t>// equals(), hashCode()</a:t>
            </a:r>
            <a:endParaRPr lang="en-US" sz="674" dirty="0"/>
          </a:p>
        </p:txBody>
      </p:sp>
      <p:sp>
        <p:nvSpPr>
          <p:cNvPr id="13" name="Text 10"/>
          <p:cNvSpPr/>
          <p:nvPr/>
        </p:nvSpPr>
        <p:spPr>
          <a:xfrm>
            <a:off x="571500" y="2583024"/>
            <a:ext cx="37147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74" dirty="0">
                <a:solidFill>
                  <a:srgbClr val="E0E7FF"/>
                </a:solidFill>
              </a:rPr>
              <a:t>}</a:t>
            </a:r>
            <a:endParaRPr lang="en-US" sz="674" dirty="0"/>
          </a:p>
        </p:txBody>
      </p:sp>
      <p:sp>
        <p:nvSpPr>
          <p:cNvPr id="14" name="Text 11"/>
          <p:cNvSpPr/>
          <p:nvPr/>
        </p:nvSpPr>
        <p:spPr>
          <a:xfrm>
            <a:off x="4714875" y="1000125"/>
            <a:ext cx="4000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kern="0" spc="1" dirty="0">
                <a:solidFill>
                  <a:srgbClr val="FB923C"/>
                </a:solidFill>
              </a:rPr>
              <a:t>Exemples de Données (Clients Marocains)</a:t>
            </a:r>
            <a:endParaRPr lang="en-US" sz="584" dirty="0"/>
          </a:p>
        </p:txBody>
      </p:sp>
      <p:sp>
        <p:nvSpPr>
          <p:cNvPr id="15" name="Shape 12"/>
          <p:cNvSpPr/>
          <p:nvPr/>
        </p:nvSpPr>
        <p:spPr>
          <a:xfrm>
            <a:off x="4714875" y="1200150"/>
            <a:ext cx="667941" cy="278606"/>
          </a:xfrm>
          <a:prstGeom prst="rect">
            <a:avLst/>
          </a:prstGeom>
          <a:solidFill>
            <a:srgbClr val="22D3EE">
              <a:alpha val="1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6" name="Shape 13"/>
          <p:cNvSpPr/>
          <p:nvPr/>
        </p:nvSpPr>
        <p:spPr>
          <a:xfrm>
            <a:off x="4714875" y="1464469"/>
            <a:ext cx="667941" cy="1428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7" name="Text 14"/>
          <p:cNvSpPr/>
          <p:nvPr/>
        </p:nvSpPr>
        <p:spPr>
          <a:xfrm>
            <a:off x="4714875" y="1200150"/>
            <a:ext cx="667941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22D3EE"/>
                </a:solidFill>
              </a:rPr>
              <a:t>ID</a:t>
            </a:r>
            <a:endParaRPr lang="en-US" sz="584" dirty="0"/>
          </a:p>
        </p:txBody>
      </p:sp>
      <p:sp>
        <p:nvSpPr>
          <p:cNvPr id="18" name="Shape 15"/>
          <p:cNvSpPr/>
          <p:nvPr/>
        </p:nvSpPr>
        <p:spPr>
          <a:xfrm>
            <a:off x="5382816" y="1200150"/>
            <a:ext cx="1164738" cy="278606"/>
          </a:xfrm>
          <a:prstGeom prst="rect">
            <a:avLst/>
          </a:prstGeom>
          <a:solidFill>
            <a:srgbClr val="22D3EE">
              <a:alpha val="1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9" name="Shape 16"/>
          <p:cNvSpPr/>
          <p:nvPr/>
        </p:nvSpPr>
        <p:spPr>
          <a:xfrm>
            <a:off x="5382816" y="1464469"/>
            <a:ext cx="1164738" cy="1428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0" name="Text 17"/>
          <p:cNvSpPr/>
          <p:nvPr/>
        </p:nvSpPr>
        <p:spPr>
          <a:xfrm>
            <a:off x="5382816" y="1200150"/>
            <a:ext cx="1164738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22D3EE"/>
                </a:solidFill>
              </a:rPr>
              <a:t>Nom</a:t>
            </a:r>
            <a:endParaRPr lang="en-US" sz="584" dirty="0"/>
          </a:p>
        </p:txBody>
      </p:sp>
      <p:sp>
        <p:nvSpPr>
          <p:cNvPr id="21" name="Shape 18"/>
          <p:cNvSpPr/>
          <p:nvPr/>
        </p:nvSpPr>
        <p:spPr>
          <a:xfrm>
            <a:off x="6547554" y="1200150"/>
            <a:ext cx="1380781" cy="278606"/>
          </a:xfrm>
          <a:prstGeom prst="rect">
            <a:avLst/>
          </a:prstGeom>
          <a:solidFill>
            <a:srgbClr val="22D3EE">
              <a:alpha val="1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2" name="Shape 19"/>
          <p:cNvSpPr/>
          <p:nvPr/>
        </p:nvSpPr>
        <p:spPr>
          <a:xfrm>
            <a:off x="6547554" y="1464469"/>
            <a:ext cx="1380781" cy="1428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3" name="Text 20"/>
          <p:cNvSpPr/>
          <p:nvPr/>
        </p:nvSpPr>
        <p:spPr>
          <a:xfrm>
            <a:off x="6547554" y="1200150"/>
            <a:ext cx="1380781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22D3EE"/>
                </a:solidFill>
              </a:rPr>
              <a:t>Ville</a:t>
            </a:r>
            <a:endParaRPr lang="en-US" sz="584" dirty="0"/>
          </a:p>
        </p:txBody>
      </p:sp>
      <p:sp>
        <p:nvSpPr>
          <p:cNvPr id="24" name="Shape 21"/>
          <p:cNvSpPr/>
          <p:nvPr/>
        </p:nvSpPr>
        <p:spPr>
          <a:xfrm>
            <a:off x="7928335" y="1200150"/>
            <a:ext cx="787040" cy="278606"/>
          </a:xfrm>
          <a:prstGeom prst="rect">
            <a:avLst/>
          </a:prstGeom>
          <a:solidFill>
            <a:srgbClr val="22D3EE">
              <a:alpha val="1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5" name="Shape 22"/>
          <p:cNvSpPr/>
          <p:nvPr/>
        </p:nvSpPr>
        <p:spPr>
          <a:xfrm>
            <a:off x="7928335" y="1464469"/>
            <a:ext cx="787040" cy="1428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6" name="Text 23"/>
          <p:cNvSpPr/>
          <p:nvPr/>
        </p:nvSpPr>
        <p:spPr>
          <a:xfrm>
            <a:off x="7928335" y="1200150"/>
            <a:ext cx="787040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22D3EE"/>
                </a:solidFill>
              </a:rPr>
              <a:t>CA</a:t>
            </a:r>
            <a:endParaRPr lang="en-US" sz="584" dirty="0"/>
          </a:p>
        </p:txBody>
      </p:sp>
      <p:sp>
        <p:nvSpPr>
          <p:cNvPr id="27" name="Text 24"/>
          <p:cNvSpPr/>
          <p:nvPr/>
        </p:nvSpPr>
        <p:spPr>
          <a:xfrm>
            <a:off x="4786313" y="1534120"/>
            <a:ext cx="14711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BBF24"/>
                </a:solidFill>
              </a:rPr>
              <a:t>101</a:t>
            </a:r>
            <a:endParaRPr lang="en-US" sz="584" dirty="0"/>
          </a:p>
        </p:txBody>
      </p:sp>
      <p:sp>
        <p:nvSpPr>
          <p:cNvPr id="28" name="Text 25"/>
          <p:cNvSpPr/>
          <p:nvPr/>
        </p:nvSpPr>
        <p:spPr>
          <a:xfrm>
            <a:off x="5382816" y="1467500"/>
            <a:ext cx="1164738" cy="254685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Ahmadi</a:t>
            </a:r>
            <a:endParaRPr lang="en-US" sz="621" dirty="0"/>
          </a:p>
        </p:txBody>
      </p:sp>
      <p:sp>
        <p:nvSpPr>
          <p:cNvPr id="29" name="Text 26"/>
          <p:cNvSpPr/>
          <p:nvPr/>
        </p:nvSpPr>
        <p:spPr>
          <a:xfrm>
            <a:off x="6547554" y="1471613"/>
            <a:ext cx="1380781" cy="246459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Casablanca</a:t>
            </a:r>
            <a:endParaRPr lang="en-US" sz="621" dirty="0"/>
          </a:p>
        </p:txBody>
      </p:sp>
      <p:sp>
        <p:nvSpPr>
          <p:cNvPr id="30" name="Text 27"/>
          <p:cNvSpPr/>
          <p:nvPr/>
        </p:nvSpPr>
        <p:spPr>
          <a:xfrm>
            <a:off x="7928335" y="1471613"/>
            <a:ext cx="787040" cy="246459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150k</a:t>
            </a:r>
            <a:endParaRPr lang="en-US" sz="621" dirty="0"/>
          </a:p>
        </p:txBody>
      </p:sp>
      <p:sp>
        <p:nvSpPr>
          <p:cNvPr id="31" name="Shape 28"/>
          <p:cNvSpPr/>
          <p:nvPr/>
        </p:nvSpPr>
        <p:spPr>
          <a:xfrm>
            <a:off x="4714875" y="1718072"/>
            <a:ext cx="4000500" cy="250031"/>
          </a:xfrm>
          <a:prstGeom prst="rect">
            <a:avLst/>
          </a:prstGeom>
          <a:solidFill>
            <a:srgbClr val="22D3EE">
              <a:alpha val="3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2" name="Text 29"/>
          <p:cNvSpPr/>
          <p:nvPr/>
        </p:nvSpPr>
        <p:spPr>
          <a:xfrm>
            <a:off x="4786313" y="1784152"/>
            <a:ext cx="14711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BBF24"/>
                </a:solidFill>
              </a:rPr>
              <a:t>102</a:t>
            </a:r>
            <a:endParaRPr lang="en-US" sz="584" dirty="0"/>
          </a:p>
        </p:txBody>
      </p:sp>
      <p:sp>
        <p:nvSpPr>
          <p:cNvPr id="33" name="Text 30"/>
          <p:cNvSpPr/>
          <p:nvPr/>
        </p:nvSpPr>
        <p:spPr>
          <a:xfrm>
            <a:off x="5382816" y="1715745"/>
            <a:ext cx="1164738" cy="254685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>
              <a:lnSpc>
                <a:spcPts val="1000"/>
              </a:lnSpc>
            </a:pPr>
            <a:r>
              <a:rPr lang="en-US" sz="621" dirty="0">
                <a:solidFill>
                  <a:srgbClr val="E0E7FF"/>
                </a:solidFill>
              </a:rPr>
              <a:t>Bennani</a:t>
            </a:r>
            <a:endParaRPr lang="en-US" sz="621" dirty="0"/>
          </a:p>
        </p:txBody>
      </p:sp>
      <p:sp>
        <p:nvSpPr>
          <p:cNvPr id="34" name="Text 31"/>
          <p:cNvSpPr/>
          <p:nvPr/>
        </p:nvSpPr>
        <p:spPr>
          <a:xfrm>
            <a:off x="6547554" y="1718072"/>
            <a:ext cx="1380781" cy="250031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Fès</a:t>
            </a:r>
            <a:endParaRPr lang="en-US" sz="621" dirty="0"/>
          </a:p>
        </p:txBody>
      </p:sp>
      <p:sp>
        <p:nvSpPr>
          <p:cNvPr id="35" name="Text 32"/>
          <p:cNvSpPr/>
          <p:nvPr/>
        </p:nvSpPr>
        <p:spPr>
          <a:xfrm>
            <a:off x="7928335" y="1718072"/>
            <a:ext cx="787040" cy="250031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550k</a:t>
            </a:r>
            <a:endParaRPr lang="en-US" sz="621" dirty="0"/>
          </a:p>
        </p:txBody>
      </p:sp>
      <p:sp>
        <p:nvSpPr>
          <p:cNvPr id="36" name="Text 33"/>
          <p:cNvSpPr/>
          <p:nvPr/>
        </p:nvSpPr>
        <p:spPr>
          <a:xfrm>
            <a:off x="4786313" y="2034183"/>
            <a:ext cx="14711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BBF24"/>
                </a:solidFill>
              </a:rPr>
              <a:t>104</a:t>
            </a:r>
            <a:endParaRPr lang="en-US" sz="584" dirty="0"/>
          </a:p>
        </p:txBody>
      </p:sp>
      <p:sp>
        <p:nvSpPr>
          <p:cNvPr id="37" name="Text 34"/>
          <p:cNvSpPr/>
          <p:nvPr/>
        </p:nvSpPr>
        <p:spPr>
          <a:xfrm>
            <a:off x="5382816" y="1965776"/>
            <a:ext cx="1164738" cy="254685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Tijani</a:t>
            </a:r>
            <a:endParaRPr lang="en-US" sz="621" dirty="0"/>
          </a:p>
        </p:txBody>
      </p:sp>
      <p:sp>
        <p:nvSpPr>
          <p:cNvPr id="38" name="Text 35"/>
          <p:cNvSpPr/>
          <p:nvPr/>
        </p:nvSpPr>
        <p:spPr>
          <a:xfrm>
            <a:off x="6547554" y="1968103"/>
            <a:ext cx="1380781" cy="250031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Marrakech</a:t>
            </a:r>
            <a:endParaRPr lang="en-US" sz="621" dirty="0"/>
          </a:p>
        </p:txBody>
      </p:sp>
      <p:sp>
        <p:nvSpPr>
          <p:cNvPr id="39" name="Text 36"/>
          <p:cNvSpPr/>
          <p:nvPr/>
        </p:nvSpPr>
        <p:spPr>
          <a:xfrm>
            <a:off x="7928335" y="1968103"/>
            <a:ext cx="787040" cy="250031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1.2M</a:t>
            </a:r>
            <a:endParaRPr lang="en-US" sz="621" dirty="0"/>
          </a:p>
        </p:txBody>
      </p:sp>
      <p:sp>
        <p:nvSpPr>
          <p:cNvPr id="40" name="Shape 37"/>
          <p:cNvSpPr/>
          <p:nvPr/>
        </p:nvSpPr>
        <p:spPr>
          <a:xfrm>
            <a:off x="4714875" y="2218134"/>
            <a:ext cx="4000500" cy="250031"/>
          </a:xfrm>
          <a:prstGeom prst="rect">
            <a:avLst/>
          </a:prstGeom>
          <a:solidFill>
            <a:srgbClr val="22D3EE">
              <a:alpha val="3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1" name="Text 38"/>
          <p:cNvSpPr/>
          <p:nvPr/>
        </p:nvSpPr>
        <p:spPr>
          <a:xfrm>
            <a:off x="4786313" y="2284214"/>
            <a:ext cx="14711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BBF24"/>
                </a:solidFill>
              </a:rPr>
              <a:t>105</a:t>
            </a:r>
            <a:endParaRPr lang="en-US" sz="584" dirty="0"/>
          </a:p>
        </p:txBody>
      </p:sp>
      <p:sp>
        <p:nvSpPr>
          <p:cNvPr id="42" name="Text 39"/>
          <p:cNvSpPr/>
          <p:nvPr/>
        </p:nvSpPr>
        <p:spPr>
          <a:xfrm>
            <a:off x="5382816" y="2218134"/>
            <a:ext cx="1164738" cy="250031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Boutaleb</a:t>
            </a:r>
            <a:endParaRPr lang="en-US" sz="621" dirty="0"/>
          </a:p>
        </p:txBody>
      </p:sp>
      <p:sp>
        <p:nvSpPr>
          <p:cNvPr id="43" name="Text 40"/>
          <p:cNvSpPr/>
          <p:nvPr/>
        </p:nvSpPr>
        <p:spPr>
          <a:xfrm>
            <a:off x="6547554" y="2218134"/>
            <a:ext cx="1380781" cy="250031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Fès</a:t>
            </a:r>
            <a:endParaRPr lang="en-US" sz="621" dirty="0"/>
          </a:p>
        </p:txBody>
      </p:sp>
      <p:sp>
        <p:nvSpPr>
          <p:cNvPr id="44" name="Text 41"/>
          <p:cNvSpPr/>
          <p:nvPr/>
        </p:nvSpPr>
        <p:spPr>
          <a:xfrm>
            <a:off x="7928335" y="2218134"/>
            <a:ext cx="787040" cy="250031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320k</a:t>
            </a:r>
            <a:endParaRPr lang="en-US" sz="621" dirty="0"/>
          </a:p>
        </p:txBody>
      </p:sp>
      <p:sp>
        <p:nvSpPr>
          <p:cNvPr id="45" name="Text 42"/>
          <p:cNvSpPr/>
          <p:nvPr/>
        </p:nvSpPr>
        <p:spPr>
          <a:xfrm>
            <a:off x="4786313" y="2534245"/>
            <a:ext cx="14711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BBF24"/>
                </a:solidFill>
              </a:rPr>
              <a:t>108</a:t>
            </a:r>
            <a:endParaRPr lang="en-US" sz="584" dirty="0"/>
          </a:p>
        </p:txBody>
      </p:sp>
      <p:sp>
        <p:nvSpPr>
          <p:cNvPr id="46" name="Text 43"/>
          <p:cNvSpPr/>
          <p:nvPr/>
        </p:nvSpPr>
        <p:spPr>
          <a:xfrm>
            <a:off x="5382816" y="2465839"/>
            <a:ext cx="1164738" cy="254685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Fellah</a:t>
            </a:r>
            <a:endParaRPr lang="en-US" sz="621" dirty="0"/>
          </a:p>
        </p:txBody>
      </p:sp>
      <p:sp>
        <p:nvSpPr>
          <p:cNvPr id="47" name="Text 44"/>
          <p:cNvSpPr/>
          <p:nvPr/>
        </p:nvSpPr>
        <p:spPr>
          <a:xfrm>
            <a:off x="6547554" y="2468166"/>
            <a:ext cx="1380781" cy="250031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Fès</a:t>
            </a:r>
            <a:endParaRPr lang="en-US" sz="621" dirty="0"/>
          </a:p>
        </p:txBody>
      </p:sp>
      <p:sp>
        <p:nvSpPr>
          <p:cNvPr id="48" name="Text 45"/>
          <p:cNvSpPr/>
          <p:nvPr/>
        </p:nvSpPr>
        <p:spPr>
          <a:xfrm>
            <a:off x="7928335" y="2468166"/>
            <a:ext cx="787040" cy="250031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600k</a:t>
            </a:r>
            <a:endParaRPr lang="en-US" sz="621" dirty="0"/>
          </a:p>
        </p:txBody>
      </p:sp>
      <p:sp>
        <p:nvSpPr>
          <p:cNvPr id="49" name="Shape 46"/>
          <p:cNvSpPr/>
          <p:nvPr/>
        </p:nvSpPr>
        <p:spPr>
          <a:xfrm>
            <a:off x="4714875" y="2718197"/>
            <a:ext cx="4000500" cy="250031"/>
          </a:xfrm>
          <a:prstGeom prst="rect">
            <a:avLst/>
          </a:prstGeom>
          <a:solidFill>
            <a:srgbClr val="22D3EE">
              <a:alpha val="3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0" name="Text 47"/>
          <p:cNvSpPr/>
          <p:nvPr/>
        </p:nvSpPr>
        <p:spPr>
          <a:xfrm>
            <a:off x="4786313" y="2784277"/>
            <a:ext cx="14711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BBF24"/>
                </a:solidFill>
              </a:rPr>
              <a:t>110</a:t>
            </a:r>
            <a:endParaRPr lang="en-US" sz="584" dirty="0"/>
          </a:p>
        </p:txBody>
      </p:sp>
      <p:sp>
        <p:nvSpPr>
          <p:cNvPr id="51" name="Text 48"/>
          <p:cNvSpPr/>
          <p:nvPr/>
        </p:nvSpPr>
        <p:spPr>
          <a:xfrm>
            <a:off x="5382816" y="2715870"/>
            <a:ext cx="1164738" cy="254685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 err="1">
                <a:solidFill>
                  <a:srgbClr val="E0E7FF"/>
                </a:solidFill>
              </a:rPr>
              <a:t>Khallouki</a:t>
            </a:r>
            <a:endParaRPr lang="en-US" sz="621" dirty="0"/>
          </a:p>
        </p:txBody>
      </p:sp>
      <p:sp>
        <p:nvSpPr>
          <p:cNvPr id="52" name="Text 49"/>
          <p:cNvSpPr/>
          <p:nvPr/>
        </p:nvSpPr>
        <p:spPr>
          <a:xfrm>
            <a:off x="6547554" y="2718197"/>
            <a:ext cx="1380781" cy="250031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Casablanca</a:t>
            </a:r>
            <a:endParaRPr lang="en-US" sz="621" dirty="0"/>
          </a:p>
        </p:txBody>
      </p:sp>
      <p:sp>
        <p:nvSpPr>
          <p:cNvPr id="53" name="Text 50"/>
          <p:cNvSpPr/>
          <p:nvPr/>
        </p:nvSpPr>
        <p:spPr>
          <a:xfrm>
            <a:off x="7928335" y="2718197"/>
            <a:ext cx="787040" cy="250031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180k</a:t>
            </a:r>
            <a:endParaRPr lang="en-US" sz="62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FBBF24"/>
                </a:solidFill>
              </a:rPr>
              <a:t>&gt; Opérations Intermédiaires : Filtrage et Transformation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428625" y="1000125"/>
            <a:ext cx="401835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kern="0" spc="1" dirty="0">
                <a:solidFill>
                  <a:srgbClr val="22D3EE"/>
                </a:solidFill>
              </a:rPr>
              <a:t>① filter()</a:t>
            </a:r>
            <a:endParaRPr lang="en-US" sz="885" dirty="0"/>
          </a:p>
        </p:txBody>
      </p:sp>
      <p:sp>
        <p:nvSpPr>
          <p:cNvPr id="5" name="Shape 2"/>
          <p:cNvSpPr/>
          <p:nvPr/>
        </p:nvSpPr>
        <p:spPr>
          <a:xfrm>
            <a:off x="428625" y="1300163"/>
            <a:ext cx="4018359" cy="320018"/>
          </a:xfrm>
          <a:prstGeom prst="rect">
            <a:avLst/>
          </a:prstGeom>
          <a:solidFill>
            <a:srgbClr val="22D3EE">
              <a:alpha val="5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" name="Shape 3"/>
          <p:cNvSpPr/>
          <p:nvPr/>
        </p:nvSpPr>
        <p:spPr>
          <a:xfrm>
            <a:off x="428625" y="1300163"/>
            <a:ext cx="14288" cy="32001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Text 4"/>
          <p:cNvSpPr/>
          <p:nvPr/>
        </p:nvSpPr>
        <p:spPr>
          <a:xfrm>
            <a:off x="428625" y="1300163"/>
            <a:ext cx="4018359" cy="32001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74" dirty="0">
                <a:solidFill>
                  <a:srgbClr val="E0E7FF"/>
                </a:solidFill>
              </a:rPr>
              <a:t>Sélectionne les éléments qui satisfont une condition (Predicate).</a:t>
            </a:r>
            <a:endParaRPr lang="en-US" sz="674" dirty="0"/>
          </a:p>
        </p:txBody>
      </p:sp>
      <p:sp>
        <p:nvSpPr>
          <p:cNvPr id="8" name="Shape 5"/>
          <p:cNvSpPr/>
          <p:nvPr/>
        </p:nvSpPr>
        <p:spPr>
          <a:xfrm>
            <a:off x="428625" y="1727336"/>
            <a:ext cx="4018359" cy="978694"/>
          </a:xfrm>
          <a:prstGeom prst="rect">
            <a:avLst/>
          </a:prstGeom>
          <a:solidFill>
            <a:srgbClr val="1A1F3A">
              <a:alpha val="70000"/>
            </a:srgbClr>
          </a:solidFill>
          <a:ln w="9144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9" name="Text 6"/>
          <p:cNvSpPr/>
          <p:nvPr/>
        </p:nvSpPr>
        <p:spPr>
          <a:xfrm>
            <a:off x="535781" y="1839850"/>
            <a:ext cx="97900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FB923C">
                    <a:alpha val="70000"/>
                  </a:srgbClr>
                </a:solidFill>
              </a:rPr>
              <a:t>// Clients avec CA &gt; 500k</a:t>
            </a:r>
            <a:endParaRPr lang="en-US" sz="621" dirty="0"/>
          </a:p>
        </p:txBody>
      </p:sp>
      <p:sp>
        <p:nvSpPr>
          <p:cNvPr id="10" name="Text 7"/>
          <p:cNvSpPr/>
          <p:nvPr/>
        </p:nvSpPr>
        <p:spPr>
          <a:xfrm>
            <a:off x="535781" y="1984511"/>
            <a:ext cx="38040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clients.</a:t>
            </a:r>
            <a:r>
              <a:rPr lang="en-US" sz="584" b="1" dirty="0">
                <a:solidFill>
                  <a:srgbClr val="22D3EE"/>
                </a:solidFill>
              </a:rPr>
              <a:t>stream</a:t>
            </a:r>
            <a:r>
              <a:rPr lang="en-US" sz="621" dirty="0">
                <a:solidFill>
                  <a:srgbClr val="E0E7FF"/>
                </a:solidFill>
              </a:rPr>
              <a:t>()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535781" y="2134530"/>
            <a:ext cx="38040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.</a:t>
            </a:r>
            <a:r>
              <a:rPr lang="en-US" sz="584" b="1" dirty="0">
                <a:solidFill>
                  <a:srgbClr val="22D3EE"/>
                </a:solidFill>
              </a:rPr>
              <a:t>filter</a:t>
            </a:r>
            <a:r>
              <a:rPr lang="en-US" sz="621" dirty="0">
                <a:solidFill>
                  <a:srgbClr val="E0E7FF"/>
                </a:solidFill>
              </a:rPr>
              <a:t>(c →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535781" y="2284549"/>
            <a:ext cx="38040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c.getChiffreAffaire() &gt; 500000)</a:t>
            </a:r>
            <a:endParaRPr lang="en-US" sz="621" dirty="0"/>
          </a:p>
        </p:txBody>
      </p:sp>
      <p:sp>
        <p:nvSpPr>
          <p:cNvPr id="13" name="Text 10"/>
          <p:cNvSpPr/>
          <p:nvPr/>
        </p:nvSpPr>
        <p:spPr>
          <a:xfrm>
            <a:off x="535781" y="2434568"/>
            <a:ext cx="38040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.</a:t>
            </a:r>
            <a:r>
              <a:rPr lang="en-US" sz="584" b="1" dirty="0">
                <a:solidFill>
                  <a:srgbClr val="22D3EE"/>
                </a:solidFill>
              </a:rPr>
              <a:t>collect</a:t>
            </a:r>
            <a:r>
              <a:rPr lang="en-US" sz="621" dirty="0">
                <a:solidFill>
                  <a:srgbClr val="E0E7FF"/>
                </a:solidFill>
              </a:rPr>
              <a:t>(...)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428625" y="2856049"/>
            <a:ext cx="401835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2D3EE"/>
                </a:solidFill>
              </a:rPr>
              <a:t>↓ Résultat</a:t>
            </a:r>
            <a:endParaRPr lang="en-US" sz="683" dirty="0"/>
          </a:p>
        </p:txBody>
      </p:sp>
      <p:sp>
        <p:nvSpPr>
          <p:cNvPr id="15" name="Shape 12"/>
          <p:cNvSpPr/>
          <p:nvPr/>
        </p:nvSpPr>
        <p:spPr>
          <a:xfrm>
            <a:off x="428625" y="3063218"/>
            <a:ext cx="4018359" cy="725091"/>
          </a:xfrm>
          <a:prstGeom prst="rect">
            <a:avLst/>
          </a:prstGeom>
          <a:solidFill>
            <a:srgbClr val="22D3EE">
              <a:alpha val="8000"/>
            </a:srgbClr>
          </a:solidFill>
          <a:ln w="9144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6" name="Text 13"/>
          <p:cNvSpPr/>
          <p:nvPr/>
        </p:nvSpPr>
        <p:spPr>
          <a:xfrm>
            <a:off x="514350" y="3148943"/>
            <a:ext cx="384690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B923C"/>
                </a:solidFill>
              </a:rPr>
              <a:t>Output</a:t>
            </a:r>
            <a:endParaRPr lang="en-US" sz="534" dirty="0"/>
          </a:p>
        </p:txBody>
      </p:sp>
      <p:sp>
        <p:nvSpPr>
          <p:cNvPr id="17" name="Text 14"/>
          <p:cNvSpPr/>
          <p:nvPr/>
        </p:nvSpPr>
        <p:spPr>
          <a:xfrm>
            <a:off x="514350" y="3302533"/>
            <a:ext cx="384690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Client{id=102, nom='Martin', ...}</a:t>
            </a:r>
            <a:endParaRPr lang="en-US" sz="621" dirty="0"/>
          </a:p>
        </p:txBody>
      </p:sp>
      <p:sp>
        <p:nvSpPr>
          <p:cNvPr id="18" name="Text 15"/>
          <p:cNvSpPr/>
          <p:nvPr/>
        </p:nvSpPr>
        <p:spPr>
          <a:xfrm>
            <a:off x="514350" y="3431121"/>
            <a:ext cx="384690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Client{id=104, nom='Dubois', ...}</a:t>
            </a:r>
            <a:endParaRPr lang="en-US" sz="621" dirty="0"/>
          </a:p>
        </p:txBody>
      </p:sp>
      <p:sp>
        <p:nvSpPr>
          <p:cNvPr id="19" name="Text 16"/>
          <p:cNvSpPr/>
          <p:nvPr/>
        </p:nvSpPr>
        <p:spPr>
          <a:xfrm>
            <a:off x="514350" y="3559708"/>
            <a:ext cx="384690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Client{id=108, nom='Petit', ...}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4697016" y="1000125"/>
            <a:ext cx="401835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kern="0" spc="1" dirty="0">
                <a:solidFill>
                  <a:srgbClr val="22D3EE"/>
                </a:solidFill>
              </a:rPr>
              <a:t>② map()</a:t>
            </a:r>
            <a:endParaRPr lang="en-US" sz="885" dirty="0"/>
          </a:p>
        </p:txBody>
      </p:sp>
      <p:sp>
        <p:nvSpPr>
          <p:cNvPr id="21" name="Shape 18"/>
          <p:cNvSpPr/>
          <p:nvPr/>
        </p:nvSpPr>
        <p:spPr>
          <a:xfrm>
            <a:off x="4697016" y="1300163"/>
            <a:ext cx="4018359" cy="320018"/>
          </a:xfrm>
          <a:prstGeom prst="rect">
            <a:avLst/>
          </a:prstGeom>
          <a:solidFill>
            <a:srgbClr val="22D3EE">
              <a:alpha val="5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2" name="Shape 19"/>
          <p:cNvSpPr/>
          <p:nvPr/>
        </p:nvSpPr>
        <p:spPr>
          <a:xfrm>
            <a:off x="4697016" y="1300163"/>
            <a:ext cx="14288" cy="32001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3" name="Text 20"/>
          <p:cNvSpPr/>
          <p:nvPr/>
        </p:nvSpPr>
        <p:spPr>
          <a:xfrm>
            <a:off x="4697016" y="1300163"/>
            <a:ext cx="4018359" cy="32001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74" dirty="0">
                <a:solidFill>
                  <a:srgbClr val="E0E7FF"/>
                </a:solidFill>
              </a:rPr>
              <a:t>Transforme chaque élément en un nouvel élément (Function).</a:t>
            </a:r>
            <a:endParaRPr lang="en-US" sz="674" dirty="0"/>
          </a:p>
        </p:txBody>
      </p:sp>
      <p:sp>
        <p:nvSpPr>
          <p:cNvPr id="24" name="Shape 21"/>
          <p:cNvSpPr/>
          <p:nvPr/>
        </p:nvSpPr>
        <p:spPr>
          <a:xfrm>
            <a:off x="4697016" y="1727336"/>
            <a:ext cx="4018359" cy="978694"/>
          </a:xfrm>
          <a:prstGeom prst="rect">
            <a:avLst/>
          </a:prstGeom>
          <a:solidFill>
            <a:srgbClr val="1A1F3A">
              <a:alpha val="70000"/>
            </a:srgbClr>
          </a:solidFill>
          <a:ln w="9144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5" name="Text 22"/>
          <p:cNvSpPr/>
          <p:nvPr/>
        </p:nvSpPr>
        <p:spPr>
          <a:xfrm>
            <a:off x="4804172" y="1839850"/>
            <a:ext cx="77813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FB923C">
                    <a:alpha val="70000"/>
                  </a:srgbClr>
                </a:solidFill>
              </a:rPr>
              <a:t>// Extraire les noms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4804172" y="1984511"/>
            <a:ext cx="38040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clients.</a:t>
            </a:r>
            <a:r>
              <a:rPr lang="en-US" sz="584" b="1" dirty="0">
                <a:solidFill>
                  <a:srgbClr val="22D3EE"/>
                </a:solidFill>
              </a:rPr>
              <a:t>stream</a:t>
            </a:r>
            <a:r>
              <a:rPr lang="en-US" sz="621" dirty="0">
                <a:solidFill>
                  <a:srgbClr val="E0E7FF"/>
                </a:solidFill>
              </a:rPr>
              <a:t>()</a:t>
            </a:r>
            <a:endParaRPr lang="en-US" sz="621" dirty="0"/>
          </a:p>
        </p:txBody>
      </p:sp>
      <p:sp>
        <p:nvSpPr>
          <p:cNvPr id="27" name="Text 24"/>
          <p:cNvSpPr/>
          <p:nvPr/>
        </p:nvSpPr>
        <p:spPr>
          <a:xfrm>
            <a:off x="4804172" y="2134530"/>
            <a:ext cx="38040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.</a:t>
            </a:r>
            <a:r>
              <a:rPr lang="en-US" sz="584" b="1" dirty="0">
                <a:solidFill>
                  <a:srgbClr val="22D3EE"/>
                </a:solidFill>
              </a:rPr>
              <a:t>map</a:t>
            </a:r>
            <a:r>
              <a:rPr lang="en-US" sz="621" dirty="0">
                <a:solidFill>
                  <a:srgbClr val="E0E7FF"/>
                </a:solidFill>
              </a:rPr>
              <a:t>(Client::getNom)</a:t>
            </a:r>
            <a:endParaRPr lang="en-US" sz="621" dirty="0"/>
          </a:p>
        </p:txBody>
      </p:sp>
      <p:sp>
        <p:nvSpPr>
          <p:cNvPr id="28" name="Text 25"/>
          <p:cNvSpPr/>
          <p:nvPr/>
        </p:nvSpPr>
        <p:spPr>
          <a:xfrm>
            <a:off x="4804172" y="2284549"/>
            <a:ext cx="38040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.</a:t>
            </a:r>
            <a:r>
              <a:rPr lang="en-US" sz="584" b="1" dirty="0">
                <a:solidFill>
                  <a:srgbClr val="22D3EE"/>
                </a:solidFill>
              </a:rPr>
              <a:t>collect</a:t>
            </a:r>
            <a:r>
              <a:rPr lang="en-US" sz="621" dirty="0">
                <a:solidFill>
                  <a:srgbClr val="E0E7FF"/>
                </a:solidFill>
              </a:rPr>
              <a:t>(</a:t>
            </a:r>
            <a:endParaRPr lang="en-US" sz="621" dirty="0"/>
          </a:p>
        </p:txBody>
      </p:sp>
      <p:sp>
        <p:nvSpPr>
          <p:cNvPr id="29" name="Text 26"/>
          <p:cNvSpPr/>
          <p:nvPr/>
        </p:nvSpPr>
        <p:spPr>
          <a:xfrm>
            <a:off x="4804172" y="2434568"/>
            <a:ext cx="38040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Collectors.toList())</a:t>
            </a:r>
            <a:endParaRPr lang="en-US" sz="621" dirty="0"/>
          </a:p>
        </p:txBody>
      </p:sp>
      <p:sp>
        <p:nvSpPr>
          <p:cNvPr id="30" name="Text 27"/>
          <p:cNvSpPr/>
          <p:nvPr/>
        </p:nvSpPr>
        <p:spPr>
          <a:xfrm>
            <a:off x="4697016" y="2856049"/>
            <a:ext cx="401835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2D3EE"/>
                </a:solidFill>
              </a:rPr>
              <a:t>↓ Résultat</a:t>
            </a:r>
            <a:endParaRPr lang="en-US" sz="683" dirty="0"/>
          </a:p>
        </p:txBody>
      </p:sp>
      <p:sp>
        <p:nvSpPr>
          <p:cNvPr id="31" name="Shape 28"/>
          <p:cNvSpPr/>
          <p:nvPr/>
        </p:nvSpPr>
        <p:spPr>
          <a:xfrm>
            <a:off x="4697016" y="3063218"/>
            <a:ext cx="4018359" cy="596503"/>
          </a:xfrm>
          <a:prstGeom prst="rect">
            <a:avLst/>
          </a:prstGeom>
          <a:solidFill>
            <a:srgbClr val="22D3EE">
              <a:alpha val="8000"/>
            </a:srgbClr>
          </a:solidFill>
          <a:ln w="9144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2" name="Text 29"/>
          <p:cNvSpPr/>
          <p:nvPr/>
        </p:nvSpPr>
        <p:spPr>
          <a:xfrm>
            <a:off x="4782741" y="3148943"/>
            <a:ext cx="384690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B923C"/>
                </a:solidFill>
              </a:rPr>
              <a:t>Output</a:t>
            </a:r>
            <a:endParaRPr lang="en-US" sz="534" dirty="0"/>
          </a:p>
        </p:txBody>
      </p:sp>
      <p:sp>
        <p:nvSpPr>
          <p:cNvPr id="33" name="Text 30"/>
          <p:cNvSpPr/>
          <p:nvPr/>
        </p:nvSpPr>
        <p:spPr>
          <a:xfrm>
            <a:off x="4782741" y="3302533"/>
            <a:ext cx="384690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[Dupont, Martin, Bernard,</a:t>
            </a:r>
            <a:endParaRPr lang="en-US" sz="621" dirty="0"/>
          </a:p>
        </p:txBody>
      </p:sp>
      <p:sp>
        <p:nvSpPr>
          <p:cNvPr id="34" name="Text 31"/>
          <p:cNvSpPr/>
          <p:nvPr/>
        </p:nvSpPr>
        <p:spPr>
          <a:xfrm>
            <a:off x="4782741" y="3431121"/>
            <a:ext cx="384690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Dubois, Thomas, Robert, ...]</a:t>
            </a:r>
            <a:endParaRPr lang="en-US" sz="621" dirty="0"/>
          </a:p>
        </p:txBody>
      </p:sp>
      <p:sp>
        <p:nvSpPr>
          <p:cNvPr id="35" name="Shape 32"/>
          <p:cNvSpPr/>
          <p:nvPr/>
        </p:nvSpPr>
        <p:spPr>
          <a:xfrm>
            <a:off x="428625" y="4166927"/>
            <a:ext cx="8286750" cy="619385"/>
          </a:xfrm>
          <a:prstGeom prst="rect">
            <a:avLst/>
          </a:prstGeom>
          <a:solidFill>
            <a:srgbClr val="FBBF24">
              <a:alpha val="1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6" name="Shape 33"/>
          <p:cNvSpPr/>
          <p:nvPr/>
        </p:nvSpPr>
        <p:spPr>
          <a:xfrm>
            <a:off x="428625" y="4166927"/>
            <a:ext cx="21431" cy="619385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7" name="Text 34"/>
          <p:cNvSpPr/>
          <p:nvPr/>
        </p:nvSpPr>
        <p:spPr>
          <a:xfrm>
            <a:off x="535781" y="4274083"/>
            <a:ext cx="807243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BBF24"/>
                </a:solidFill>
              </a:rPr>
              <a:t>⚡ Lazy Evaluation (Évaluation Paresseuse)</a:t>
            </a:r>
            <a:endParaRPr lang="en-US" sz="634" dirty="0"/>
          </a:p>
        </p:txBody>
      </p:sp>
      <p:sp>
        <p:nvSpPr>
          <p:cNvPr id="38" name="Text 35"/>
          <p:cNvSpPr/>
          <p:nvPr/>
        </p:nvSpPr>
        <p:spPr>
          <a:xfrm>
            <a:off x="535781" y="4470536"/>
            <a:ext cx="8072438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Les opérations </a:t>
            </a:r>
            <a:r>
              <a:rPr lang="en-US" sz="584" b="1" dirty="0">
                <a:solidFill>
                  <a:srgbClr val="FBBF24"/>
                </a:solidFill>
              </a:rPr>
              <a:t>filter()</a:t>
            </a:r>
            <a:r>
              <a:rPr lang="en-US" sz="621" dirty="0">
                <a:solidFill>
                  <a:srgbClr val="E0E7FF"/>
                </a:solidFill>
              </a:rPr>
              <a:t> et </a:t>
            </a:r>
            <a:r>
              <a:rPr lang="en-US" sz="584" b="1" dirty="0">
                <a:solidFill>
                  <a:srgbClr val="FBBF24"/>
                </a:solidFill>
              </a:rPr>
              <a:t>map()</a:t>
            </a:r>
            <a:r>
              <a:rPr lang="en-US" sz="621" dirty="0">
                <a:solidFill>
                  <a:srgbClr val="E0E7FF"/>
                </a:solidFill>
              </a:rPr>
              <a:t> ne s'exécutent </a:t>
            </a:r>
            <a:r>
              <a:rPr lang="en-US" sz="584" b="1" dirty="0">
                <a:solidFill>
                  <a:srgbClr val="FBBF24"/>
                </a:solidFill>
              </a:rPr>
              <a:t>jamais</a:t>
            </a:r>
            <a:r>
              <a:rPr lang="en-US" sz="621" dirty="0">
                <a:solidFill>
                  <a:srgbClr val="E0E7FF"/>
                </a:solidFill>
              </a:rPr>
              <a:t> tant qu'une opération terminale (collect, forEach, etc.) n'est pas appelée. Cela optimise les performances en évitant les traitements inutiles.</a:t>
            </a:r>
            <a:endParaRPr lang="en-US" sz="62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0896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FBBF24"/>
                </a:solidFill>
              </a:rPr>
              <a:t>&gt; Opérations Intermédiaires : Tri et Limitation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428625" y="857250"/>
            <a:ext cx="4089797" cy="2165840"/>
          </a:xfrm>
          <a:prstGeom prst="rect">
            <a:avLst/>
          </a:prstGeom>
          <a:solidFill>
            <a:srgbClr val="1A1F3A">
              <a:alpha val="50000"/>
            </a:srgbClr>
          </a:solidFill>
          <a:ln w="9144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Text 2"/>
          <p:cNvSpPr/>
          <p:nvPr/>
        </p:nvSpPr>
        <p:spPr>
          <a:xfrm>
            <a:off x="535781" y="964406"/>
            <a:ext cx="38754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kern="0" spc="1" dirty="0">
                <a:solidFill>
                  <a:srgbClr val="FB923C"/>
                </a:solidFill>
              </a:rPr>
              <a:t>① sorted()</a:t>
            </a:r>
            <a:endParaRPr lang="en-US" sz="634" dirty="0"/>
          </a:p>
        </p:txBody>
      </p:sp>
      <p:sp>
        <p:nvSpPr>
          <p:cNvPr id="6" name="Shape 3"/>
          <p:cNvSpPr/>
          <p:nvPr/>
        </p:nvSpPr>
        <p:spPr>
          <a:xfrm>
            <a:off x="535781" y="1175147"/>
            <a:ext cx="3875484" cy="1027193"/>
          </a:xfrm>
          <a:prstGeom prst="rect">
            <a:avLst/>
          </a:prstGeom>
          <a:solidFill>
            <a:srgbClr val="1A1F3A">
              <a:alpha val="8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Shape 4"/>
          <p:cNvSpPr/>
          <p:nvPr/>
        </p:nvSpPr>
        <p:spPr>
          <a:xfrm>
            <a:off x="535781" y="1175147"/>
            <a:ext cx="21431" cy="1027193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8" name="Text 5"/>
          <p:cNvSpPr/>
          <p:nvPr/>
        </p:nvSpPr>
        <p:spPr>
          <a:xfrm>
            <a:off x="607219" y="1246584"/>
            <a:ext cx="3732609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clients.</a:t>
            </a:r>
            <a:r>
              <a:rPr lang="en-US" sz="534" b="1" dirty="0">
                <a:solidFill>
                  <a:srgbClr val="22D3EE"/>
                </a:solidFill>
              </a:rPr>
              <a:t>stream</a:t>
            </a:r>
            <a:r>
              <a:rPr lang="en-US" sz="568" dirty="0">
                <a:solidFill>
                  <a:srgbClr val="E0E7FF"/>
                </a:solidFill>
              </a:rPr>
              <a:t>()</a:t>
            </a:r>
            <a:endParaRPr lang="en-US" sz="568" dirty="0"/>
          </a:p>
        </p:txBody>
      </p:sp>
      <p:sp>
        <p:nvSpPr>
          <p:cNvPr id="9" name="Text 6"/>
          <p:cNvSpPr/>
          <p:nvPr/>
        </p:nvSpPr>
        <p:spPr>
          <a:xfrm>
            <a:off x="607219" y="1370874"/>
            <a:ext cx="3732609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34" b="1" dirty="0">
                <a:solidFill>
                  <a:srgbClr val="22D3EE"/>
                </a:solidFill>
              </a:rPr>
              <a:t>sorted</a:t>
            </a:r>
            <a:r>
              <a:rPr lang="en-US" sz="568" dirty="0">
                <a:solidFill>
                  <a:srgbClr val="E0E7FF"/>
                </a:solidFill>
              </a:rPr>
              <a:t>(</a:t>
            </a:r>
            <a:endParaRPr lang="en-US" sz="568" dirty="0"/>
          </a:p>
        </p:txBody>
      </p:sp>
      <p:sp>
        <p:nvSpPr>
          <p:cNvPr id="10" name="Text 7"/>
          <p:cNvSpPr/>
          <p:nvPr/>
        </p:nvSpPr>
        <p:spPr>
          <a:xfrm>
            <a:off x="607219" y="1495165"/>
            <a:ext cx="3732609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Comparator</a:t>
            </a:r>
            <a:endParaRPr lang="en-US" sz="568" dirty="0"/>
          </a:p>
        </p:txBody>
      </p:sp>
      <p:sp>
        <p:nvSpPr>
          <p:cNvPr id="11" name="Text 8"/>
          <p:cNvSpPr/>
          <p:nvPr/>
        </p:nvSpPr>
        <p:spPr>
          <a:xfrm>
            <a:off x="607219" y="1619455"/>
            <a:ext cx="3732609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34" b="1" dirty="0">
                <a:solidFill>
                  <a:srgbClr val="22D3EE"/>
                </a:solidFill>
              </a:rPr>
              <a:t>comparing</a:t>
            </a:r>
            <a:r>
              <a:rPr lang="en-US" sz="568" dirty="0">
                <a:solidFill>
                  <a:srgbClr val="E0E7FF"/>
                </a:solidFill>
              </a:rPr>
              <a:t>(</a:t>
            </a:r>
            <a:endParaRPr lang="en-US" sz="568" dirty="0"/>
          </a:p>
        </p:txBody>
      </p:sp>
      <p:sp>
        <p:nvSpPr>
          <p:cNvPr id="12" name="Text 9"/>
          <p:cNvSpPr/>
          <p:nvPr/>
        </p:nvSpPr>
        <p:spPr>
          <a:xfrm>
            <a:off x="607219" y="1743745"/>
            <a:ext cx="3732609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Client::getNom</a:t>
            </a:r>
            <a:endParaRPr lang="en-US" sz="568" dirty="0"/>
          </a:p>
        </p:txBody>
      </p:sp>
      <p:sp>
        <p:nvSpPr>
          <p:cNvPr id="13" name="Text 10"/>
          <p:cNvSpPr/>
          <p:nvPr/>
        </p:nvSpPr>
        <p:spPr>
          <a:xfrm>
            <a:off x="607219" y="1868035"/>
            <a:ext cx="3732609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)</a:t>
            </a:r>
            <a:endParaRPr lang="en-US" sz="568" dirty="0"/>
          </a:p>
        </p:txBody>
      </p:sp>
      <p:sp>
        <p:nvSpPr>
          <p:cNvPr id="14" name="Text 11"/>
          <p:cNvSpPr/>
          <p:nvPr/>
        </p:nvSpPr>
        <p:spPr>
          <a:xfrm>
            <a:off x="607219" y="1992325"/>
            <a:ext cx="3732609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)</a:t>
            </a:r>
            <a:endParaRPr lang="en-US" sz="568" dirty="0"/>
          </a:p>
        </p:txBody>
      </p:sp>
      <p:sp>
        <p:nvSpPr>
          <p:cNvPr id="15" name="Text 12"/>
          <p:cNvSpPr/>
          <p:nvPr/>
        </p:nvSpPr>
        <p:spPr>
          <a:xfrm>
            <a:off x="535781" y="2330927"/>
            <a:ext cx="387548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485" b="1" dirty="0">
                <a:solidFill>
                  <a:srgbClr val="22D3EE"/>
                </a:solidFill>
              </a:rPr>
              <a:t>Résultat (Trié par nom):</a:t>
            </a:r>
            <a:endParaRPr lang="en-US" sz="485" dirty="0"/>
          </a:p>
        </p:txBody>
      </p:sp>
      <p:sp>
        <p:nvSpPr>
          <p:cNvPr id="16" name="Shape 13"/>
          <p:cNvSpPr/>
          <p:nvPr/>
        </p:nvSpPr>
        <p:spPr>
          <a:xfrm>
            <a:off x="535781" y="2473802"/>
            <a:ext cx="3875484" cy="442131"/>
          </a:xfrm>
          <a:prstGeom prst="rect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7" name="Shape 14"/>
          <p:cNvSpPr/>
          <p:nvPr/>
        </p:nvSpPr>
        <p:spPr>
          <a:xfrm>
            <a:off x="535781" y="2473802"/>
            <a:ext cx="21431" cy="442131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8" name="Text 15"/>
          <p:cNvSpPr/>
          <p:nvPr/>
        </p:nvSpPr>
        <p:spPr>
          <a:xfrm>
            <a:off x="592931" y="2530952"/>
            <a:ext cx="3761184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Alaoui (Fès)</a:t>
            </a:r>
            <a:endParaRPr lang="en-US" sz="568" dirty="0"/>
          </a:p>
        </p:txBody>
      </p:sp>
      <p:sp>
        <p:nvSpPr>
          <p:cNvPr id="19" name="Text 16"/>
          <p:cNvSpPr/>
          <p:nvPr/>
        </p:nvSpPr>
        <p:spPr>
          <a:xfrm>
            <a:off x="592931" y="2640230"/>
            <a:ext cx="620363" cy="961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Ahmadi (Casablanca)</a:t>
            </a:r>
            <a:endParaRPr lang="en-US" sz="568" dirty="0"/>
          </a:p>
        </p:txBody>
      </p:sp>
      <p:sp>
        <p:nvSpPr>
          <p:cNvPr id="20" name="Text 17"/>
          <p:cNvSpPr/>
          <p:nvPr/>
        </p:nvSpPr>
        <p:spPr>
          <a:xfrm>
            <a:off x="592931" y="2749507"/>
            <a:ext cx="3761184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Benjelloun (Casablanca)</a:t>
            </a:r>
            <a:endParaRPr lang="en-US" sz="568" dirty="0"/>
          </a:p>
        </p:txBody>
      </p:sp>
      <p:sp>
        <p:nvSpPr>
          <p:cNvPr id="21" name="Shape 18"/>
          <p:cNvSpPr/>
          <p:nvPr/>
        </p:nvSpPr>
        <p:spPr>
          <a:xfrm>
            <a:off x="4625578" y="857250"/>
            <a:ext cx="4089797" cy="2165840"/>
          </a:xfrm>
          <a:prstGeom prst="rect">
            <a:avLst/>
          </a:prstGeom>
          <a:solidFill>
            <a:srgbClr val="1A1F3A">
              <a:alpha val="50000"/>
            </a:srgbClr>
          </a:solidFill>
          <a:ln w="9144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2" name="Text 19"/>
          <p:cNvSpPr/>
          <p:nvPr/>
        </p:nvSpPr>
        <p:spPr>
          <a:xfrm>
            <a:off x="4732734" y="964406"/>
            <a:ext cx="38754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kern="0" spc="1" dirty="0">
                <a:solidFill>
                  <a:srgbClr val="FB923C"/>
                </a:solidFill>
              </a:rPr>
              <a:t>② limit(n)</a:t>
            </a:r>
            <a:endParaRPr lang="en-US" sz="634" dirty="0"/>
          </a:p>
        </p:txBody>
      </p:sp>
      <p:sp>
        <p:nvSpPr>
          <p:cNvPr id="23" name="Shape 20"/>
          <p:cNvSpPr/>
          <p:nvPr/>
        </p:nvSpPr>
        <p:spPr>
          <a:xfrm>
            <a:off x="4732734" y="1175147"/>
            <a:ext cx="3875484" cy="1012906"/>
          </a:xfrm>
          <a:prstGeom prst="rect">
            <a:avLst/>
          </a:prstGeom>
          <a:solidFill>
            <a:srgbClr val="1A1F3A">
              <a:alpha val="8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4" name="Shape 21"/>
          <p:cNvSpPr/>
          <p:nvPr/>
        </p:nvSpPr>
        <p:spPr>
          <a:xfrm>
            <a:off x="4732734" y="1175147"/>
            <a:ext cx="21431" cy="1012906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5" name="Text 22"/>
          <p:cNvSpPr/>
          <p:nvPr/>
        </p:nvSpPr>
        <p:spPr>
          <a:xfrm>
            <a:off x="4804172" y="1246584"/>
            <a:ext cx="3732609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clients.</a:t>
            </a:r>
            <a:r>
              <a:rPr lang="en-US" sz="534" b="1" dirty="0">
                <a:solidFill>
                  <a:srgbClr val="22D3EE"/>
                </a:solidFill>
              </a:rPr>
              <a:t>stream</a:t>
            </a:r>
            <a:r>
              <a:rPr lang="en-US" sz="568" dirty="0">
                <a:solidFill>
                  <a:srgbClr val="E0E7FF"/>
                </a:solidFill>
              </a:rPr>
              <a:t>()</a:t>
            </a:r>
            <a:endParaRPr lang="en-US" sz="568" dirty="0"/>
          </a:p>
        </p:txBody>
      </p:sp>
      <p:sp>
        <p:nvSpPr>
          <p:cNvPr id="26" name="Text 23"/>
          <p:cNvSpPr/>
          <p:nvPr/>
        </p:nvSpPr>
        <p:spPr>
          <a:xfrm>
            <a:off x="4804172" y="1370874"/>
            <a:ext cx="3732609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34" b="1" dirty="0">
                <a:solidFill>
                  <a:srgbClr val="22D3EE"/>
                </a:solidFill>
              </a:rPr>
              <a:t>sorted</a:t>
            </a:r>
            <a:r>
              <a:rPr lang="en-US" sz="568" dirty="0">
                <a:solidFill>
                  <a:srgbClr val="E0E7FF"/>
                </a:solidFill>
              </a:rPr>
              <a:t>(</a:t>
            </a:r>
            <a:endParaRPr lang="en-US" sz="568" dirty="0"/>
          </a:p>
        </p:txBody>
      </p:sp>
      <p:sp>
        <p:nvSpPr>
          <p:cNvPr id="27" name="Text 24"/>
          <p:cNvSpPr/>
          <p:nvPr/>
        </p:nvSpPr>
        <p:spPr>
          <a:xfrm>
            <a:off x="4804172" y="1495165"/>
            <a:ext cx="3732609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Comparator</a:t>
            </a:r>
            <a:endParaRPr lang="en-US" sz="568" dirty="0"/>
          </a:p>
        </p:txBody>
      </p:sp>
      <p:sp>
        <p:nvSpPr>
          <p:cNvPr id="28" name="Text 25"/>
          <p:cNvSpPr/>
          <p:nvPr/>
        </p:nvSpPr>
        <p:spPr>
          <a:xfrm>
            <a:off x="4804172" y="1619455"/>
            <a:ext cx="3732609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34" b="1" dirty="0">
                <a:solidFill>
                  <a:srgbClr val="22D3EE"/>
                </a:solidFill>
              </a:rPr>
              <a:t>comparing</a:t>
            </a:r>
            <a:r>
              <a:rPr lang="en-US" sz="568" dirty="0">
                <a:solidFill>
                  <a:srgbClr val="E0E7FF"/>
                </a:solidFill>
              </a:rPr>
              <a:t>(</a:t>
            </a:r>
            <a:endParaRPr lang="en-US" sz="568" dirty="0"/>
          </a:p>
        </p:txBody>
      </p:sp>
      <p:sp>
        <p:nvSpPr>
          <p:cNvPr id="29" name="Text 26"/>
          <p:cNvSpPr/>
          <p:nvPr/>
        </p:nvSpPr>
        <p:spPr>
          <a:xfrm>
            <a:off x="4804172" y="1743745"/>
            <a:ext cx="3732609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Client::getCA</a:t>
            </a:r>
            <a:endParaRPr lang="en-US" sz="568" dirty="0"/>
          </a:p>
        </p:txBody>
      </p:sp>
      <p:sp>
        <p:nvSpPr>
          <p:cNvPr id="30" name="Text 27"/>
          <p:cNvSpPr/>
          <p:nvPr/>
        </p:nvSpPr>
        <p:spPr>
          <a:xfrm>
            <a:off x="4804172" y="1868035"/>
            <a:ext cx="3732609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).</a:t>
            </a:r>
            <a:r>
              <a:rPr lang="en-US" sz="534" b="1" dirty="0">
                <a:solidFill>
                  <a:srgbClr val="22D3EE"/>
                </a:solidFill>
              </a:rPr>
              <a:t>reversed</a:t>
            </a:r>
            <a:r>
              <a:rPr lang="en-US" sz="568" dirty="0">
                <a:solidFill>
                  <a:srgbClr val="E0E7FF"/>
                </a:solidFill>
              </a:rPr>
              <a:t>()</a:t>
            </a:r>
            <a:endParaRPr lang="en-US" sz="568" dirty="0"/>
          </a:p>
        </p:txBody>
      </p:sp>
      <p:sp>
        <p:nvSpPr>
          <p:cNvPr id="31" name="Text 28"/>
          <p:cNvSpPr/>
          <p:nvPr/>
        </p:nvSpPr>
        <p:spPr>
          <a:xfrm>
            <a:off x="4804172" y="1992325"/>
            <a:ext cx="3732609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).</a:t>
            </a:r>
            <a:r>
              <a:rPr lang="en-US" sz="534" b="1" dirty="0">
                <a:solidFill>
                  <a:srgbClr val="22D3EE"/>
                </a:solidFill>
              </a:rPr>
              <a:t>limit</a:t>
            </a:r>
            <a:r>
              <a:rPr lang="en-US" sz="568" dirty="0">
                <a:solidFill>
                  <a:srgbClr val="E0E7FF"/>
                </a:solidFill>
              </a:rPr>
              <a:t>(</a:t>
            </a:r>
            <a:r>
              <a:rPr lang="en-US" sz="568" dirty="0">
                <a:solidFill>
                  <a:srgbClr val="FB923C"/>
                </a:solidFill>
              </a:rPr>
              <a:t>3</a:t>
            </a:r>
            <a:r>
              <a:rPr lang="en-US" sz="568" dirty="0">
                <a:solidFill>
                  <a:srgbClr val="E0E7FF"/>
                </a:solidFill>
              </a:rPr>
              <a:t>)</a:t>
            </a:r>
            <a:endParaRPr lang="en-US" sz="568" dirty="0"/>
          </a:p>
        </p:txBody>
      </p:sp>
      <p:sp>
        <p:nvSpPr>
          <p:cNvPr id="32" name="Text 29"/>
          <p:cNvSpPr/>
          <p:nvPr/>
        </p:nvSpPr>
        <p:spPr>
          <a:xfrm>
            <a:off x="4732734" y="2316640"/>
            <a:ext cx="387548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485" b="1" dirty="0">
                <a:solidFill>
                  <a:srgbClr val="22D3EE"/>
                </a:solidFill>
              </a:rPr>
              <a:t>Résultat (Top 3 CA):</a:t>
            </a:r>
            <a:endParaRPr lang="en-US" sz="485" dirty="0"/>
          </a:p>
        </p:txBody>
      </p:sp>
      <p:sp>
        <p:nvSpPr>
          <p:cNvPr id="33" name="Shape 30"/>
          <p:cNvSpPr/>
          <p:nvPr/>
        </p:nvSpPr>
        <p:spPr>
          <a:xfrm>
            <a:off x="4732734" y="2459515"/>
            <a:ext cx="3875484" cy="442131"/>
          </a:xfrm>
          <a:prstGeom prst="rect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4" name="Shape 31"/>
          <p:cNvSpPr/>
          <p:nvPr/>
        </p:nvSpPr>
        <p:spPr>
          <a:xfrm>
            <a:off x="4732734" y="2459515"/>
            <a:ext cx="21431" cy="442131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5" name="Text 32"/>
          <p:cNvSpPr/>
          <p:nvPr/>
        </p:nvSpPr>
        <p:spPr>
          <a:xfrm>
            <a:off x="4789884" y="2516665"/>
            <a:ext cx="347852" cy="961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Tijani: 1.2M</a:t>
            </a:r>
            <a:endParaRPr lang="en-US" sz="568" dirty="0"/>
          </a:p>
        </p:txBody>
      </p:sp>
      <p:sp>
        <p:nvSpPr>
          <p:cNvPr id="36" name="Text 33"/>
          <p:cNvSpPr/>
          <p:nvPr/>
        </p:nvSpPr>
        <p:spPr>
          <a:xfrm>
            <a:off x="4789884" y="2625942"/>
            <a:ext cx="407163" cy="961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Ahmadi: 600k</a:t>
            </a:r>
            <a:endParaRPr lang="en-US" sz="568" dirty="0"/>
          </a:p>
        </p:txBody>
      </p:sp>
      <p:sp>
        <p:nvSpPr>
          <p:cNvPr id="37" name="Text 34"/>
          <p:cNvSpPr/>
          <p:nvPr/>
        </p:nvSpPr>
        <p:spPr>
          <a:xfrm>
            <a:off x="4789884" y="2735219"/>
            <a:ext cx="3761184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Alaoui: 550k</a:t>
            </a:r>
            <a:endParaRPr lang="en-US" sz="568" dirty="0"/>
          </a:p>
        </p:txBody>
      </p:sp>
      <p:sp>
        <p:nvSpPr>
          <p:cNvPr id="38" name="Shape 35"/>
          <p:cNvSpPr/>
          <p:nvPr/>
        </p:nvSpPr>
        <p:spPr>
          <a:xfrm>
            <a:off x="428625" y="3115959"/>
            <a:ext cx="4089797" cy="1792970"/>
          </a:xfrm>
          <a:prstGeom prst="rect">
            <a:avLst/>
          </a:prstGeom>
          <a:solidFill>
            <a:srgbClr val="1A1F3A">
              <a:alpha val="50000"/>
            </a:srgbClr>
          </a:solidFill>
          <a:ln w="9144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9" name="Text 36"/>
          <p:cNvSpPr/>
          <p:nvPr/>
        </p:nvSpPr>
        <p:spPr>
          <a:xfrm>
            <a:off x="535781" y="3223115"/>
            <a:ext cx="38754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kern="0" spc="1" dirty="0">
                <a:solidFill>
                  <a:srgbClr val="FB923C"/>
                </a:solidFill>
              </a:rPr>
              <a:t>③ skip(n)</a:t>
            </a:r>
            <a:endParaRPr lang="en-US" sz="634" dirty="0"/>
          </a:p>
        </p:txBody>
      </p:sp>
      <p:sp>
        <p:nvSpPr>
          <p:cNvPr id="40" name="Shape 37"/>
          <p:cNvSpPr/>
          <p:nvPr/>
        </p:nvSpPr>
        <p:spPr>
          <a:xfrm>
            <a:off x="535781" y="3433856"/>
            <a:ext cx="3875484" cy="640035"/>
          </a:xfrm>
          <a:prstGeom prst="rect">
            <a:avLst/>
          </a:prstGeom>
          <a:solidFill>
            <a:srgbClr val="1A1F3A">
              <a:alpha val="8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1" name="Shape 38"/>
          <p:cNvSpPr/>
          <p:nvPr/>
        </p:nvSpPr>
        <p:spPr>
          <a:xfrm>
            <a:off x="535781" y="3433856"/>
            <a:ext cx="21431" cy="64003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2" name="Text 39"/>
          <p:cNvSpPr/>
          <p:nvPr/>
        </p:nvSpPr>
        <p:spPr>
          <a:xfrm>
            <a:off x="607219" y="3505293"/>
            <a:ext cx="3732609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clients.</a:t>
            </a:r>
            <a:r>
              <a:rPr lang="en-US" sz="534" b="1" dirty="0">
                <a:solidFill>
                  <a:srgbClr val="22D3EE"/>
                </a:solidFill>
              </a:rPr>
              <a:t>stream</a:t>
            </a:r>
            <a:r>
              <a:rPr lang="en-US" sz="568" dirty="0">
                <a:solidFill>
                  <a:srgbClr val="E0E7FF"/>
                </a:solidFill>
              </a:rPr>
              <a:t>()</a:t>
            </a:r>
            <a:endParaRPr lang="en-US" sz="568" dirty="0"/>
          </a:p>
        </p:txBody>
      </p:sp>
      <p:sp>
        <p:nvSpPr>
          <p:cNvPr id="43" name="Text 40"/>
          <p:cNvSpPr/>
          <p:nvPr/>
        </p:nvSpPr>
        <p:spPr>
          <a:xfrm>
            <a:off x="607219" y="3629583"/>
            <a:ext cx="3732609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34" b="1" dirty="0">
                <a:solidFill>
                  <a:srgbClr val="22D3EE"/>
                </a:solidFill>
              </a:rPr>
              <a:t>skip</a:t>
            </a:r>
            <a:r>
              <a:rPr lang="en-US" sz="568" dirty="0">
                <a:solidFill>
                  <a:srgbClr val="E0E7FF"/>
                </a:solidFill>
              </a:rPr>
              <a:t>(</a:t>
            </a:r>
            <a:r>
              <a:rPr lang="en-US" sz="568" dirty="0">
                <a:solidFill>
                  <a:srgbClr val="FB923C"/>
                </a:solidFill>
              </a:rPr>
              <a:t>5</a:t>
            </a:r>
            <a:r>
              <a:rPr lang="en-US" sz="568" dirty="0">
                <a:solidFill>
                  <a:srgbClr val="E0E7FF"/>
                </a:solidFill>
              </a:rPr>
              <a:t>)</a:t>
            </a:r>
            <a:endParaRPr lang="en-US" sz="568" dirty="0"/>
          </a:p>
        </p:txBody>
      </p:sp>
      <p:sp>
        <p:nvSpPr>
          <p:cNvPr id="44" name="Text 41"/>
          <p:cNvSpPr/>
          <p:nvPr/>
        </p:nvSpPr>
        <p:spPr>
          <a:xfrm>
            <a:off x="607219" y="3753873"/>
            <a:ext cx="3732609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34" b="1" dirty="0">
                <a:solidFill>
                  <a:srgbClr val="22D3EE"/>
                </a:solidFill>
              </a:rPr>
              <a:t>limit</a:t>
            </a:r>
            <a:r>
              <a:rPr lang="en-US" sz="568" dirty="0">
                <a:solidFill>
                  <a:srgbClr val="E0E7FF"/>
                </a:solidFill>
              </a:rPr>
              <a:t>(</a:t>
            </a:r>
            <a:r>
              <a:rPr lang="en-US" sz="568" dirty="0">
                <a:solidFill>
                  <a:srgbClr val="FB923C"/>
                </a:solidFill>
              </a:rPr>
              <a:t>3</a:t>
            </a:r>
            <a:r>
              <a:rPr lang="en-US" sz="568" dirty="0">
                <a:solidFill>
                  <a:srgbClr val="E0E7FF"/>
                </a:solidFill>
              </a:rPr>
              <a:t>)</a:t>
            </a:r>
            <a:endParaRPr lang="en-US" sz="568" dirty="0"/>
          </a:p>
        </p:txBody>
      </p:sp>
      <p:sp>
        <p:nvSpPr>
          <p:cNvPr id="45" name="Text 42"/>
          <p:cNvSpPr/>
          <p:nvPr/>
        </p:nvSpPr>
        <p:spPr>
          <a:xfrm>
            <a:off x="607219" y="3878163"/>
            <a:ext cx="4765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B923C">
                    <a:alpha val="70000"/>
                  </a:srgbClr>
                </a:solidFill>
              </a:rPr>
              <a:t>// Pagination</a:t>
            </a:r>
            <a:endParaRPr lang="en-US" sz="568" dirty="0"/>
          </a:p>
        </p:txBody>
      </p:sp>
      <p:sp>
        <p:nvSpPr>
          <p:cNvPr id="46" name="Text 43"/>
          <p:cNvSpPr/>
          <p:nvPr/>
        </p:nvSpPr>
        <p:spPr>
          <a:xfrm>
            <a:off x="535781" y="4202478"/>
            <a:ext cx="387548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485" b="1" dirty="0">
                <a:solidFill>
                  <a:srgbClr val="22D3EE"/>
                </a:solidFill>
              </a:rPr>
              <a:t>Résultat (Éléments 6-8):</a:t>
            </a:r>
            <a:endParaRPr lang="en-US" sz="485" dirty="0"/>
          </a:p>
        </p:txBody>
      </p:sp>
      <p:sp>
        <p:nvSpPr>
          <p:cNvPr id="47" name="Shape 44"/>
          <p:cNvSpPr/>
          <p:nvPr/>
        </p:nvSpPr>
        <p:spPr>
          <a:xfrm>
            <a:off x="535781" y="4345353"/>
            <a:ext cx="3875484" cy="442131"/>
          </a:xfrm>
          <a:prstGeom prst="rect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8" name="Shape 45"/>
          <p:cNvSpPr/>
          <p:nvPr/>
        </p:nvSpPr>
        <p:spPr>
          <a:xfrm>
            <a:off x="535781" y="4345353"/>
            <a:ext cx="21431" cy="442131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9" name="Text 46"/>
          <p:cNvSpPr/>
          <p:nvPr/>
        </p:nvSpPr>
        <p:spPr>
          <a:xfrm>
            <a:off x="592931" y="4402503"/>
            <a:ext cx="3761184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Benjelloun (Casablanca)</a:t>
            </a:r>
            <a:endParaRPr lang="en-US" sz="568" dirty="0"/>
          </a:p>
        </p:txBody>
      </p:sp>
      <p:sp>
        <p:nvSpPr>
          <p:cNvPr id="50" name="Text 47"/>
          <p:cNvSpPr/>
          <p:nvPr/>
        </p:nvSpPr>
        <p:spPr>
          <a:xfrm>
            <a:off x="592931" y="4511780"/>
            <a:ext cx="3761184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Chraibi (Agadir)</a:t>
            </a:r>
            <a:endParaRPr lang="en-US" sz="568" dirty="0"/>
          </a:p>
        </p:txBody>
      </p:sp>
      <p:sp>
        <p:nvSpPr>
          <p:cNvPr id="51" name="Text 48"/>
          <p:cNvSpPr/>
          <p:nvPr/>
        </p:nvSpPr>
        <p:spPr>
          <a:xfrm>
            <a:off x="592931" y="4621057"/>
            <a:ext cx="387927" cy="961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Ahmadi (Fès)</a:t>
            </a:r>
            <a:endParaRPr lang="en-US" sz="568" dirty="0"/>
          </a:p>
        </p:txBody>
      </p:sp>
      <p:sp>
        <p:nvSpPr>
          <p:cNvPr id="52" name="Shape 49"/>
          <p:cNvSpPr/>
          <p:nvPr/>
        </p:nvSpPr>
        <p:spPr>
          <a:xfrm>
            <a:off x="4625578" y="3115959"/>
            <a:ext cx="4089797" cy="1778682"/>
          </a:xfrm>
          <a:prstGeom prst="rect">
            <a:avLst/>
          </a:prstGeom>
          <a:solidFill>
            <a:srgbClr val="1A1F3A">
              <a:alpha val="50000"/>
            </a:srgbClr>
          </a:solidFill>
          <a:ln w="9144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3" name="Text 50"/>
          <p:cNvSpPr/>
          <p:nvPr/>
        </p:nvSpPr>
        <p:spPr>
          <a:xfrm>
            <a:off x="4732734" y="3223115"/>
            <a:ext cx="38754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kern="0" spc="1" dirty="0">
                <a:solidFill>
                  <a:srgbClr val="FB923C"/>
                </a:solidFill>
              </a:rPr>
              <a:t>④ distinct()</a:t>
            </a:r>
            <a:endParaRPr lang="en-US" sz="634" dirty="0"/>
          </a:p>
        </p:txBody>
      </p:sp>
      <p:sp>
        <p:nvSpPr>
          <p:cNvPr id="54" name="Shape 51"/>
          <p:cNvSpPr/>
          <p:nvPr/>
        </p:nvSpPr>
        <p:spPr>
          <a:xfrm>
            <a:off x="4732734" y="3433856"/>
            <a:ext cx="3875484" cy="858589"/>
          </a:xfrm>
          <a:prstGeom prst="rect">
            <a:avLst/>
          </a:prstGeom>
          <a:solidFill>
            <a:srgbClr val="1A1F3A">
              <a:alpha val="8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5" name="Shape 52"/>
          <p:cNvSpPr/>
          <p:nvPr/>
        </p:nvSpPr>
        <p:spPr>
          <a:xfrm>
            <a:off x="4732734" y="3433856"/>
            <a:ext cx="21431" cy="858589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6" name="Text 53"/>
          <p:cNvSpPr/>
          <p:nvPr/>
        </p:nvSpPr>
        <p:spPr>
          <a:xfrm>
            <a:off x="4804172" y="3505293"/>
            <a:ext cx="3732609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clients.</a:t>
            </a:r>
            <a:r>
              <a:rPr lang="en-US" sz="534" b="1" dirty="0">
                <a:solidFill>
                  <a:srgbClr val="22D3EE"/>
                </a:solidFill>
              </a:rPr>
              <a:t>stream</a:t>
            </a:r>
            <a:r>
              <a:rPr lang="en-US" sz="568" dirty="0">
                <a:solidFill>
                  <a:srgbClr val="E0E7FF"/>
                </a:solidFill>
              </a:rPr>
              <a:t>()</a:t>
            </a:r>
            <a:endParaRPr lang="en-US" sz="568" dirty="0"/>
          </a:p>
        </p:txBody>
      </p:sp>
      <p:sp>
        <p:nvSpPr>
          <p:cNvPr id="57" name="Text 54"/>
          <p:cNvSpPr/>
          <p:nvPr/>
        </p:nvSpPr>
        <p:spPr>
          <a:xfrm>
            <a:off x="4804172" y="3629583"/>
            <a:ext cx="3732609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34" b="1" dirty="0">
                <a:solidFill>
                  <a:srgbClr val="22D3EE"/>
                </a:solidFill>
              </a:rPr>
              <a:t>map</a:t>
            </a:r>
            <a:r>
              <a:rPr lang="en-US" sz="568" dirty="0">
                <a:solidFill>
                  <a:srgbClr val="E0E7FF"/>
                </a:solidFill>
              </a:rPr>
              <a:t>(</a:t>
            </a:r>
            <a:endParaRPr lang="en-US" sz="568" dirty="0"/>
          </a:p>
        </p:txBody>
      </p:sp>
      <p:sp>
        <p:nvSpPr>
          <p:cNvPr id="58" name="Text 55"/>
          <p:cNvSpPr/>
          <p:nvPr/>
        </p:nvSpPr>
        <p:spPr>
          <a:xfrm>
            <a:off x="4804172" y="3753873"/>
            <a:ext cx="3732609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Client::getAdresse</a:t>
            </a:r>
            <a:endParaRPr lang="en-US" sz="568" dirty="0"/>
          </a:p>
        </p:txBody>
      </p:sp>
      <p:sp>
        <p:nvSpPr>
          <p:cNvPr id="59" name="Text 56"/>
          <p:cNvSpPr/>
          <p:nvPr/>
        </p:nvSpPr>
        <p:spPr>
          <a:xfrm>
            <a:off x="4804172" y="3878163"/>
            <a:ext cx="3732609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)</a:t>
            </a:r>
            <a:endParaRPr lang="en-US" sz="568" dirty="0"/>
          </a:p>
        </p:txBody>
      </p:sp>
      <p:sp>
        <p:nvSpPr>
          <p:cNvPr id="60" name="Text 57"/>
          <p:cNvSpPr/>
          <p:nvPr/>
        </p:nvSpPr>
        <p:spPr>
          <a:xfrm>
            <a:off x="4804172" y="4002453"/>
            <a:ext cx="3732609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34" b="1" dirty="0">
                <a:solidFill>
                  <a:srgbClr val="22D3EE"/>
                </a:solidFill>
              </a:rPr>
              <a:t>distinct</a:t>
            </a:r>
            <a:r>
              <a:rPr lang="en-US" sz="568" dirty="0">
                <a:solidFill>
                  <a:srgbClr val="E0E7FF"/>
                </a:solidFill>
              </a:rPr>
              <a:t>()</a:t>
            </a:r>
            <a:endParaRPr lang="en-US" sz="568" dirty="0"/>
          </a:p>
        </p:txBody>
      </p:sp>
      <p:sp>
        <p:nvSpPr>
          <p:cNvPr id="61" name="Text 58"/>
          <p:cNvSpPr/>
          <p:nvPr/>
        </p:nvSpPr>
        <p:spPr>
          <a:xfrm>
            <a:off x="4732734" y="4421032"/>
            <a:ext cx="387548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485" b="1" dirty="0">
                <a:solidFill>
                  <a:srgbClr val="22D3EE"/>
                </a:solidFill>
              </a:rPr>
              <a:t>Résultat (Villes uniques):</a:t>
            </a:r>
            <a:endParaRPr lang="en-US" sz="485" dirty="0"/>
          </a:p>
        </p:txBody>
      </p:sp>
      <p:sp>
        <p:nvSpPr>
          <p:cNvPr id="62" name="Shape 59"/>
          <p:cNvSpPr/>
          <p:nvPr/>
        </p:nvSpPr>
        <p:spPr>
          <a:xfrm>
            <a:off x="4732734" y="4563907"/>
            <a:ext cx="3875484" cy="223577"/>
          </a:xfrm>
          <a:prstGeom prst="rect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3" name="Shape 60"/>
          <p:cNvSpPr/>
          <p:nvPr/>
        </p:nvSpPr>
        <p:spPr>
          <a:xfrm>
            <a:off x="4732734" y="4563907"/>
            <a:ext cx="21431" cy="223577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4" name="Text 61"/>
          <p:cNvSpPr/>
          <p:nvPr/>
        </p:nvSpPr>
        <p:spPr>
          <a:xfrm>
            <a:off x="4789884" y="4621057"/>
            <a:ext cx="3761184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Casablanca, Fès, Marrakech, Agadir</a:t>
            </a:r>
            <a:endParaRPr lang="en-US" sz="56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10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FBBF24"/>
                </a:solidFill>
              </a:rPr>
              <a:t>&gt; collect() : Accumulation des Résultats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428625" y="857250"/>
            <a:ext cx="4079081" cy="1995171"/>
          </a:xfrm>
          <a:prstGeom prst="rect">
            <a:avLst/>
          </a:prstGeom>
          <a:solidFill>
            <a:srgbClr val="1A1F3A">
              <a:alpha val="60000"/>
            </a:srgbClr>
          </a:solidFill>
          <a:ln w="9144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Text 2"/>
          <p:cNvSpPr/>
          <p:nvPr/>
        </p:nvSpPr>
        <p:spPr>
          <a:xfrm>
            <a:off x="535781" y="964406"/>
            <a:ext cx="38647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kern="0" spc="1" dirty="0">
                <a:solidFill>
                  <a:srgbClr val="FB923C"/>
                </a:solidFill>
              </a:rPr>
              <a:t>① Collectors.toList()</a:t>
            </a:r>
            <a:endParaRPr lang="en-US" sz="634" dirty="0"/>
          </a:p>
        </p:txBody>
      </p:sp>
      <p:sp>
        <p:nvSpPr>
          <p:cNvPr id="6" name="Text 3"/>
          <p:cNvSpPr/>
          <p:nvPr/>
        </p:nvSpPr>
        <p:spPr>
          <a:xfrm>
            <a:off x="535781" y="1175147"/>
            <a:ext cx="38647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BBF24"/>
                </a:solidFill>
              </a:rPr>
              <a:t>Créer une Liste</a:t>
            </a:r>
            <a:endParaRPr lang="en-US" sz="734" dirty="0"/>
          </a:p>
        </p:txBody>
      </p:sp>
      <p:sp>
        <p:nvSpPr>
          <p:cNvPr id="7" name="Shape 4"/>
          <p:cNvSpPr/>
          <p:nvPr/>
        </p:nvSpPr>
        <p:spPr>
          <a:xfrm>
            <a:off x="535781" y="1407319"/>
            <a:ext cx="3864769" cy="778613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8" name="Shape 5"/>
          <p:cNvSpPr/>
          <p:nvPr/>
        </p:nvSpPr>
        <p:spPr>
          <a:xfrm>
            <a:off x="535781" y="1407319"/>
            <a:ext cx="14288" cy="778613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9" name="Text 6"/>
          <p:cNvSpPr/>
          <p:nvPr/>
        </p:nvSpPr>
        <p:spPr>
          <a:xfrm>
            <a:off x="607219" y="1478756"/>
            <a:ext cx="37218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BBF24"/>
                </a:solidFill>
              </a:rPr>
              <a:t>clients</a:t>
            </a: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68" dirty="0">
                <a:solidFill>
                  <a:srgbClr val="22D3EE"/>
                </a:solidFill>
              </a:rPr>
              <a:t>stream</a:t>
            </a:r>
            <a:r>
              <a:rPr lang="en-US" sz="568" dirty="0">
                <a:solidFill>
                  <a:srgbClr val="E0E7FF"/>
                </a:solidFill>
              </a:rPr>
              <a:t>()</a:t>
            </a:r>
            <a:endParaRPr lang="en-US" sz="534" dirty="0"/>
          </a:p>
        </p:txBody>
      </p:sp>
      <p:sp>
        <p:nvSpPr>
          <p:cNvPr id="10" name="Text 7"/>
          <p:cNvSpPr/>
          <p:nvPr/>
        </p:nvSpPr>
        <p:spPr>
          <a:xfrm>
            <a:off x="607219" y="1603046"/>
            <a:ext cx="37218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68" dirty="0">
                <a:solidFill>
                  <a:srgbClr val="22D3EE"/>
                </a:solidFill>
              </a:rPr>
              <a:t>filter</a:t>
            </a:r>
            <a:r>
              <a:rPr lang="en-US" sz="568" dirty="0">
                <a:solidFill>
                  <a:srgbClr val="E0E7FF"/>
                </a:solidFill>
              </a:rPr>
              <a:t>(c → c.CA &gt; 500k)</a:t>
            </a:r>
            <a:endParaRPr lang="en-US" sz="568" dirty="0"/>
          </a:p>
        </p:txBody>
      </p:sp>
      <p:sp>
        <p:nvSpPr>
          <p:cNvPr id="11" name="Text 8"/>
          <p:cNvSpPr/>
          <p:nvPr/>
        </p:nvSpPr>
        <p:spPr>
          <a:xfrm>
            <a:off x="607219" y="1727336"/>
            <a:ext cx="37218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68" dirty="0">
                <a:solidFill>
                  <a:srgbClr val="22D3EE"/>
                </a:solidFill>
              </a:rPr>
              <a:t>collect</a:t>
            </a:r>
            <a:r>
              <a:rPr lang="en-US" sz="568" dirty="0">
                <a:solidFill>
                  <a:srgbClr val="E0E7FF"/>
                </a:solidFill>
              </a:rPr>
              <a:t>(</a:t>
            </a:r>
            <a:endParaRPr lang="en-US" sz="568" dirty="0"/>
          </a:p>
        </p:txBody>
      </p:sp>
      <p:sp>
        <p:nvSpPr>
          <p:cNvPr id="12" name="Text 9"/>
          <p:cNvSpPr/>
          <p:nvPr/>
        </p:nvSpPr>
        <p:spPr>
          <a:xfrm>
            <a:off x="607219" y="1851627"/>
            <a:ext cx="37218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B923C"/>
                </a:solidFill>
              </a:rPr>
              <a:t>Collectors</a:t>
            </a: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68" dirty="0">
                <a:solidFill>
                  <a:srgbClr val="22D3EE"/>
                </a:solidFill>
              </a:rPr>
              <a:t>toList</a:t>
            </a:r>
            <a:r>
              <a:rPr lang="en-US" sz="568" dirty="0">
                <a:solidFill>
                  <a:srgbClr val="E0E7FF"/>
                </a:solidFill>
              </a:rPr>
              <a:t>()</a:t>
            </a:r>
            <a:endParaRPr lang="en-US" sz="568" dirty="0"/>
          </a:p>
        </p:txBody>
      </p:sp>
      <p:sp>
        <p:nvSpPr>
          <p:cNvPr id="13" name="Text 10"/>
          <p:cNvSpPr/>
          <p:nvPr/>
        </p:nvSpPr>
        <p:spPr>
          <a:xfrm>
            <a:off x="607219" y="1975917"/>
            <a:ext cx="37218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)</a:t>
            </a:r>
            <a:endParaRPr lang="en-US" sz="568" dirty="0"/>
          </a:p>
        </p:txBody>
      </p:sp>
      <p:sp>
        <p:nvSpPr>
          <p:cNvPr id="14" name="Text 11"/>
          <p:cNvSpPr/>
          <p:nvPr/>
        </p:nvSpPr>
        <p:spPr>
          <a:xfrm>
            <a:off x="535781" y="2257369"/>
            <a:ext cx="386476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22D3EE"/>
                </a:solidFill>
              </a:rPr>
              <a:t>Résultat</a:t>
            </a:r>
            <a:endParaRPr lang="en-US" sz="534" dirty="0"/>
          </a:p>
        </p:txBody>
      </p:sp>
      <p:sp>
        <p:nvSpPr>
          <p:cNvPr id="15" name="Shape 12"/>
          <p:cNvSpPr/>
          <p:nvPr/>
        </p:nvSpPr>
        <p:spPr>
          <a:xfrm>
            <a:off x="535781" y="2410960"/>
            <a:ext cx="3864769" cy="334305"/>
          </a:xfrm>
          <a:prstGeom prst="rect">
            <a:avLst/>
          </a:prstGeom>
          <a:solidFill>
            <a:srgbClr val="22D3EE">
              <a:alpha val="5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6" name="Shape 13"/>
          <p:cNvSpPr/>
          <p:nvPr/>
        </p:nvSpPr>
        <p:spPr>
          <a:xfrm>
            <a:off x="535781" y="2410960"/>
            <a:ext cx="14288" cy="334305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7" name="Text 14"/>
          <p:cNvSpPr/>
          <p:nvPr/>
        </p:nvSpPr>
        <p:spPr>
          <a:xfrm>
            <a:off x="535781" y="2410960"/>
            <a:ext cx="3864769" cy="33430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22D3EE"/>
                </a:solidFill>
              </a:rPr>
              <a:t>List&lt;Client&gt;</a:t>
            </a:r>
            <a:r>
              <a:rPr lang="en-US" sz="568" dirty="0">
                <a:solidFill>
                  <a:srgbClr val="E0E7FF"/>
                </a:solidFill>
              </a:rPr>
              <a:t>
 [Client(102), Client(104), ...]</a:t>
            </a:r>
            <a:endParaRPr lang="en-US" sz="534" dirty="0"/>
          </a:p>
        </p:txBody>
      </p:sp>
      <p:sp>
        <p:nvSpPr>
          <p:cNvPr id="18" name="Shape 15"/>
          <p:cNvSpPr/>
          <p:nvPr/>
        </p:nvSpPr>
        <p:spPr>
          <a:xfrm>
            <a:off x="4636294" y="857250"/>
            <a:ext cx="4079081" cy="1995171"/>
          </a:xfrm>
          <a:prstGeom prst="rect">
            <a:avLst/>
          </a:prstGeom>
          <a:solidFill>
            <a:srgbClr val="1A1F3A">
              <a:alpha val="60000"/>
            </a:srgbClr>
          </a:solidFill>
          <a:ln w="9144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9" name="Text 16"/>
          <p:cNvSpPr/>
          <p:nvPr/>
        </p:nvSpPr>
        <p:spPr>
          <a:xfrm>
            <a:off x="4743450" y="964406"/>
            <a:ext cx="38647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kern="0" spc="1" dirty="0">
                <a:solidFill>
                  <a:srgbClr val="FB923C"/>
                </a:solidFill>
              </a:rPr>
              <a:t>② Collectors.toSet()</a:t>
            </a:r>
            <a:endParaRPr lang="en-US" sz="634" dirty="0"/>
          </a:p>
        </p:txBody>
      </p:sp>
      <p:sp>
        <p:nvSpPr>
          <p:cNvPr id="20" name="Text 17"/>
          <p:cNvSpPr/>
          <p:nvPr/>
        </p:nvSpPr>
        <p:spPr>
          <a:xfrm>
            <a:off x="4743450" y="1175147"/>
            <a:ext cx="38647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BBF24"/>
                </a:solidFill>
              </a:rPr>
              <a:t>Créer un Ensemble Unique</a:t>
            </a:r>
            <a:endParaRPr lang="en-US" sz="734" dirty="0"/>
          </a:p>
        </p:txBody>
      </p:sp>
      <p:sp>
        <p:nvSpPr>
          <p:cNvPr id="21" name="Shape 18"/>
          <p:cNvSpPr/>
          <p:nvPr/>
        </p:nvSpPr>
        <p:spPr>
          <a:xfrm>
            <a:off x="4743450" y="1407319"/>
            <a:ext cx="3864769" cy="764325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2" name="Shape 19"/>
          <p:cNvSpPr/>
          <p:nvPr/>
        </p:nvSpPr>
        <p:spPr>
          <a:xfrm>
            <a:off x="4743450" y="1407319"/>
            <a:ext cx="14288" cy="76432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3" name="Text 20"/>
          <p:cNvSpPr/>
          <p:nvPr/>
        </p:nvSpPr>
        <p:spPr>
          <a:xfrm>
            <a:off x="4814888" y="1478756"/>
            <a:ext cx="37218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BBF24"/>
                </a:solidFill>
              </a:rPr>
              <a:t>clients</a:t>
            </a: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68" dirty="0">
                <a:solidFill>
                  <a:srgbClr val="22D3EE"/>
                </a:solidFill>
              </a:rPr>
              <a:t>stream</a:t>
            </a:r>
            <a:r>
              <a:rPr lang="en-US" sz="568" dirty="0">
                <a:solidFill>
                  <a:srgbClr val="E0E7FF"/>
                </a:solidFill>
              </a:rPr>
              <a:t>()</a:t>
            </a:r>
            <a:endParaRPr lang="en-US" sz="534" dirty="0"/>
          </a:p>
        </p:txBody>
      </p:sp>
      <p:sp>
        <p:nvSpPr>
          <p:cNvPr id="24" name="Text 21"/>
          <p:cNvSpPr/>
          <p:nvPr/>
        </p:nvSpPr>
        <p:spPr>
          <a:xfrm>
            <a:off x="4814888" y="1603046"/>
            <a:ext cx="37218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68" dirty="0">
                <a:solidFill>
                  <a:srgbClr val="22D3EE"/>
                </a:solidFill>
              </a:rPr>
              <a:t>map</a:t>
            </a:r>
            <a:r>
              <a:rPr lang="en-US" sz="568" dirty="0">
                <a:solidFill>
                  <a:srgbClr val="E0E7FF"/>
                </a:solidFill>
              </a:rPr>
              <a:t>(Client::getAdresse)</a:t>
            </a:r>
            <a:endParaRPr lang="en-US" sz="568" dirty="0"/>
          </a:p>
        </p:txBody>
      </p:sp>
      <p:sp>
        <p:nvSpPr>
          <p:cNvPr id="25" name="Text 22"/>
          <p:cNvSpPr/>
          <p:nvPr/>
        </p:nvSpPr>
        <p:spPr>
          <a:xfrm>
            <a:off x="4814888" y="1727336"/>
            <a:ext cx="37218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68" dirty="0">
                <a:solidFill>
                  <a:srgbClr val="22D3EE"/>
                </a:solidFill>
              </a:rPr>
              <a:t>collect</a:t>
            </a:r>
            <a:r>
              <a:rPr lang="en-US" sz="568" dirty="0">
                <a:solidFill>
                  <a:srgbClr val="E0E7FF"/>
                </a:solidFill>
              </a:rPr>
              <a:t>(</a:t>
            </a:r>
            <a:endParaRPr lang="en-US" sz="568" dirty="0"/>
          </a:p>
        </p:txBody>
      </p:sp>
      <p:sp>
        <p:nvSpPr>
          <p:cNvPr id="26" name="Text 23"/>
          <p:cNvSpPr/>
          <p:nvPr/>
        </p:nvSpPr>
        <p:spPr>
          <a:xfrm>
            <a:off x="4814888" y="1851627"/>
            <a:ext cx="37218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B923C"/>
                </a:solidFill>
              </a:rPr>
              <a:t>Collectors</a:t>
            </a: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68" dirty="0">
                <a:solidFill>
                  <a:srgbClr val="22D3EE"/>
                </a:solidFill>
              </a:rPr>
              <a:t>toSet</a:t>
            </a:r>
            <a:r>
              <a:rPr lang="en-US" sz="568" dirty="0">
                <a:solidFill>
                  <a:srgbClr val="E0E7FF"/>
                </a:solidFill>
              </a:rPr>
              <a:t>()</a:t>
            </a:r>
            <a:endParaRPr lang="en-US" sz="568" dirty="0"/>
          </a:p>
        </p:txBody>
      </p:sp>
      <p:sp>
        <p:nvSpPr>
          <p:cNvPr id="27" name="Text 24"/>
          <p:cNvSpPr/>
          <p:nvPr/>
        </p:nvSpPr>
        <p:spPr>
          <a:xfrm>
            <a:off x="4814888" y="1975917"/>
            <a:ext cx="37218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)</a:t>
            </a:r>
            <a:endParaRPr lang="en-US" sz="568" dirty="0"/>
          </a:p>
        </p:txBody>
      </p:sp>
      <p:sp>
        <p:nvSpPr>
          <p:cNvPr id="28" name="Text 25"/>
          <p:cNvSpPr/>
          <p:nvPr/>
        </p:nvSpPr>
        <p:spPr>
          <a:xfrm>
            <a:off x="4743450" y="2243082"/>
            <a:ext cx="386476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22D3EE"/>
                </a:solidFill>
              </a:rPr>
              <a:t>Résultat</a:t>
            </a:r>
            <a:endParaRPr lang="en-US" sz="534" dirty="0"/>
          </a:p>
        </p:txBody>
      </p:sp>
      <p:sp>
        <p:nvSpPr>
          <p:cNvPr id="29" name="Shape 26"/>
          <p:cNvSpPr/>
          <p:nvPr/>
        </p:nvSpPr>
        <p:spPr>
          <a:xfrm>
            <a:off x="4743450" y="2396672"/>
            <a:ext cx="3864769" cy="334305"/>
          </a:xfrm>
          <a:prstGeom prst="rect">
            <a:avLst/>
          </a:prstGeom>
          <a:solidFill>
            <a:srgbClr val="22D3EE">
              <a:alpha val="5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0" name="Shape 27"/>
          <p:cNvSpPr/>
          <p:nvPr/>
        </p:nvSpPr>
        <p:spPr>
          <a:xfrm>
            <a:off x="4743450" y="2396672"/>
            <a:ext cx="14288" cy="334305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1" name="Text 28"/>
          <p:cNvSpPr/>
          <p:nvPr/>
        </p:nvSpPr>
        <p:spPr>
          <a:xfrm>
            <a:off x="4743450" y="2396672"/>
            <a:ext cx="3864769" cy="33430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22D3EE"/>
                </a:solidFill>
              </a:rPr>
              <a:t>Set&lt;String&gt;</a:t>
            </a:r>
            <a:r>
              <a:rPr lang="en-US" sz="568" dirty="0">
                <a:solidFill>
                  <a:srgbClr val="E0E7FF"/>
                </a:solidFill>
              </a:rPr>
              <a:t>
 {Paris, Lyon, Marseille}</a:t>
            </a:r>
            <a:endParaRPr lang="en-US" sz="534" dirty="0"/>
          </a:p>
        </p:txBody>
      </p:sp>
      <p:sp>
        <p:nvSpPr>
          <p:cNvPr id="32" name="Shape 29"/>
          <p:cNvSpPr/>
          <p:nvPr/>
        </p:nvSpPr>
        <p:spPr>
          <a:xfrm>
            <a:off x="428625" y="2966721"/>
            <a:ext cx="4079081" cy="2243751"/>
          </a:xfrm>
          <a:prstGeom prst="rect">
            <a:avLst/>
          </a:prstGeom>
          <a:solidFill>
            <a:srgbClr val="1A1F3A">
              <a:alpha val="60000"/>
            </a:srgbClr>
          </a:solidFill>
          <a:ln w="9144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3" name="Text 30"/>
          <p:cNvSpPr/>
          <p:nvPr/>
        </p:nvSpPr>
        <p:spPr>
          <a:xfrm>
            <a:off x="535781" y="3073877"/>
            <a:ext cx="38647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kern="0" spc="1" dirty="0">
                <a:solidFill>
                  <a:srgbClr val="FB923C"/>
                </a:solidFill>
              </a:rPr>
              <a:t>③ Collectors.toMap()</a:t>
            </a:r>
            <a:endParaRPr lang="en-US" sz="634" dirty="0"/>
          </a:p>
        </p:txBody>
      </p:sp>
      <p:sp>
        <p:nvSpPr>
          <p:cNvPr id="34" name="Text 31"/>
          <p:cNvSpPr/>
          <p:nvPr/>
        </p:nvSpPr>
        <p:spPr>
          <a:xfrm>
            <a:off x="535781" y="3284618"/>
            <a:ext cx="38647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BBF24"/>
                </a:solidFill>
              </a:rPr>
              <a:t>Créer une Map (Clé-Valeur)</a:t>
            </a:r>
            <a:endParaRPr lang="en-US" sz="734" dirty="0"/>
          </a:p>
        </p:txBody>
      </p:sp>
      <p:sp>
        <p:nvSpPr>
          <p:cNvPr id="35" name="Shape 32"/>
          <p:cNvSpPr/>
          <p:nvPr/>
        </p:nvSpPr>
        <p:spPr>
          <a:xfrm>
            <a:off x="535781" y="3516790"/>
            <a:ext cx="3864769" cy="1012906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6" name="Shape 33"/>
          <p:cNvSpPr/>
          <p:nvPr/>
        </p:nvSpPr>
        <p:spPr>
          <a:xfrm>
            <a:off x="535781" y="3516790"/>
            <a:ext cx="14288" cy="1012906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7" name="Text 34"/>
          <p:cNvSpPr/>
          <p:nvPr/>
        </p:nvSpPr>
        <p:spPr>
          <a:xfrm>
            <a:off x="607219" y="3588227"/>
            <a:ext cx="37218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BBF24"/>
                </a:solidFill>
              </a:rPr>
              <a:t>clients</a:t>
            </a: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68" dirty="0">
                <a:solidFill>
                  <a:srgbClr val="22D3EE"/>
                </a:solidFill>
              </a:rPr>
              <a:t>stream</a:t>
            </a:r>
            <a:r>
              <a:rPr lang="en-US" sz="568" dirty="0">
                <a:solidFill>
                  <a:srgbClr val="E0E7FF"/>
                </a:solidFill>
              </a:rPr>
              <a:t>()</a:t>
            </a:r>
            <a:endParaRPr lang="en-US" sz="534" dirty="0"/>
          </a:p>
        </p:txBody>
      </p:sp>
      <p:sp>
        <p:nvSpPr>
          <p:cNvPr id="38" name="Text 35"/>
          <p:cNvSpPr/>
          <p:nvPr/>
        </p:nvSpPr>
        <p:spPr>
          <a:xfrm>
            <a:off x="607219" y="3712518"/>
            <a:ext cx="37218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68" dirty="0">
                <a:solidFill>
                  <a:srgbClr val="22D3EE"/>
                </a:solidFill>
              </a:rPr>
              <a:t>collect</a:t>
            </a:r>
            <a:r>
              <a:rPr lang="en-US" sz="568" dirty="0">
                <a:solidFill>
                  <a:srgbClr val="E0E7FF"/>
                </a:solidFill>
              </a:rPr>
              <a:t>(</a:t>
            </a:r>
            <a:endParaRPr lang="en-US" sz="568" dirty="0"/>
          </a:p>
        </p:txBody>
      </p:sp>
      <p:sp>
        <p:nvSpPr>
          <p:cNvPr id="39" name="Text 36"/>
          <p:cNvSpPr/>
          <p:nvPr/>
        </p:nvSpPr>
        <p:spPr>
          <a:xfrm>
            <a:off x="607219" y="3836808"/>
            <a:ext cx="37218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B923C"/>
                </a:solidFill>
              </a:rPr>
              <a:t>Collectors</a:t>
            </a: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68" dirty="0">
                <a:solidFill>
                  <a:srgbClr val="22D3EE"/>
                </a:solidFill>
              </a:rPr>
              <a:t>toMap</a:t>
            </a:r>
            <a:r>
              <a:rPr lang="en-US" sz="568" dirty="0">
                <a:solidFill>
                  <a:srgbClr val="E0E7FF"/>
                </a:solidFill>
              </a:rPr>
              <a:t>(</a:t>
            </a:r>
            <a:endParaRPr lang="en-US" sz="568" dirty="0"/>
          </a:p>
        </p:txBody>
      </p:sp>
      <p:sp>
        <p:nvSpPr>
          <p:cNvPr id="40" name="Text 37"/>
          <p:cNvSpPr/>
          <p:nvPr/>
        </p:nvSpPr>
        <p:spPr>
          <a:xfrm>
            <a:off x="607219" y="3961098"/>
            <a:ext cx="37218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Client::getId,</a:t>
            </a:r>
            <a:endParaRPr lang="en-US" sz="568" dirty="0"/>
          </a:p>
        </p:txBody>
      </p:sp>
      <p:sp>
        <p:nvSpPr>
          <p:cNvPr id="41" name="Text 38"/>
          <p:cNvSpPr/>
          <p:nvPr/>
        </p:nvSpPr>
        <p:spPr>
          <a:xfrm>
            <a:off x="607219" y="4085388"/>
            <a:ext cx="37218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Client::getNom</a:t>
            </a:r>
            <a:endParaRPr lang="en-US" sz="568" dirty="0"/>
          </a:p>
        </p:txBody>
      </p:sp>
      <p:sp>
        <p:nvSpPr>
          <p:cNvPr id="42" name="Text 39"/>
          <p:cNvSpPr/>
          <p:nvPr/>
        </p:nvSpPr>
        <p:spPr>
          <a:xfrm>
            <a:off x="607219" y="4209678"/>
            <a:ext cx="37218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)</a:t>
            </a:r>
            <a:endParaRPr lang="en-US" sz="568" dirty="0"/>
          </a:p>
        </p:txBody>
      </p:sp>
      <p:sp>
        <p:nvSpPr>
          <p:cNvPr id="43" name="Text 40"/>
          <p:cNvSpPr/>
          <p:nvPr/>
        </p:nvSpPr>
        <p:spPr>
          <a:xfrm>
            <a:off x="607219" y="4333968"/>
            <a:ext cx="37218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)</a:t>
            </a:r>
            <a:endParaRPr lang="en-US" sz="568" dirty="0"/>
          </a:p>
        </p:txBody>
      </p:sp>
      <p:sp>
        <p:nvSpPr>
          <p:cNvPr id="44" name="Text 41"/>
          <p:cNvSpPr/>
          <p:nvPr/>
        </p:nvSpPr>
        <p:spPr>
          <a:xfrm>
            <a:off x="535781" y="4601133"/>
            <a:ext cx="386476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22D3EE"/>
                </a:solidFill>
              </a:rPr>
              <a:t>Résultat</a:t>
            </a:r>
            <a:endParaRPr lang="en-US" sz="534" dirty="0"/>
          </a:p>
        </p:txBody>
      </p:sp>
      <p:sp>
        <p:nvSpPr>
          <p:cNvPr id="45" name="Shape 42"/>
          <p:cNvSpPr/>
          <p:nvPr/>
        </p:nvSpPr>
        <p:spPr>
          <a:xfrm>
            <a:off x="535781" y="4754724"/>
            <a:ext cx="3864769" cy="334305"/>
          </a:xfrm>
          <a:prstGeom prst="rect">
            <a:avLst/>
          </a:prstGeom>
          <a:solidFill>
            <a:srgbClr val="22D3EE">
              <a:alpha val="5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6" name="Shape 43"/>
          <p:cNvSpPr/>
          <p:nvPr/>
        </p:nvSpPr>
        <p:spPr>
          <a:xfrm>
            <a:off x="535781" y="4754724"/>
            <a:ext cx="14288" cy="334305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7" name="Text 44"/>
          <p:cNvSpPr/>
          <p:nvPr/>
        </p:nvSpPr>
        <p:spPr>
          <a:xfrm>
            <a:off x="535781" y="4754724"/>
            <a:ext cx="3864769" cy="33430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22D3EE"/>
                </a:solidFill>
              </a:rPr>
              <a:t>Map&lt;Integer, String&gt;</a:t>
            </a:r>
            <a:r>
              <a:rPr lang="en-US" sz="568" dirty="0">
                <a:solidFill>
                  <a:srgbClr val="E0E7FF"/>
                </a:solidFill>
              </a:rPr>
              <a:t>
 {101→Dupont, 102→Martin, ...}</a:t>
            </a:r>
            <a:endParaRPr lang="en-US" sz="534" dirty="0"/>
          </a:p>
        </p:txBody>
      </p:sp>
      <p:sp>
        <p:nvSpPr>
          <p:cNvPr id="48" name="Shape 45"/>
          <p:cNvSpPr/>
          <p:nvPr/>
        </p:nvSpPr>
        <p:spPr>
          <a:xfrm>
            <a:off x="4636294" y="2966721"/>
            <a:ext cx="4079081" cy="2229464"/>
          </a:xfrm>
          <a:prstGeom prst="rect">
            <a:avLst/>
          </a:prstGeom>
          <a:solidFill>
            <a:srgbClr val="1A1F3A">
              <a:alpha val="60000"/>
            </a:srgbClr>
          </a:solidFill>
          <a:ln w="9144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9" name="Text 46"/>
          <p:cNvSpPr/>
          <p:nvPr/>
        </p:nvSpPr>
        <p:spPr>
          <a:xfrm>
            <a:off x="4743450" y="3073877"/>
            <a:ext cx="38647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kern="0" spc="1" dirty="0">
                <a:solidFill>
                  <a:srgbClr val="FB923C"/>
                </a:solidFill>
              </a:rPr>
              <a:t>④ Collectors.groupingBy()</a:t>
            </a:r>
            <a:endParaRPr lang="en-US" sz="634" dirty="0"/>
          </a:p>
        </p:txBody>
      </p:sp>
      <p:sp>
        <p:nvSpPr>
          <p:cNvPr id="50" name="Text 47"/>
          <p:cNvSpPr/>
          <p:nvPr/>
        </p:nvSpPr>
        <p:spPr>
          <a:xfrm>
            <a:off x="4743450" y="3284618"/>
            <a:ext cx="38647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BBF24"/>
                </a:solidFill>
              </a:rPr>
              <a:t>Regrouper par Clé</a:t>
            </a:r>
            <a:endParaRPr lang="en-US" sz="734" dirty="0"/>
          </a:p>
        </p:txBody>
      </p:sp>
      <p:sp>
        <p:nvSpPr>
          <p:cNvPr id="51" name="Shape 48"/>
          <p:cNvSpPr/>
          <p:nvPr/>
        </p:nvSpPr>
        <p:spPr>
          <a:xfrm>
            <a:off x="4743450" y="3516790"/>
            <a:ext cx="3864769" cy="1012906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2" name="Shape 49"/>
          <p:cNvSpPr/>
          <p:nvPr/>
        </p:nvSpPr>
        <p:spPr>
          <a:xfrm>
            <a:off x="4743450" y="3516790"/>
            <a:ext cx="14288" cy="1012906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3" name="Text 50"/>
          <p:cNvSpPr/>
          <p:nvPr/>
        </p:nvSpPr>
        <p:spPr>
          <a:xfrm>
            <a:off x="4814888" y="3588227"/>
            <a:ext cx="37218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BBF24"/>
                </a:solidFill>
              </a:rPr>
              <a:t>clients</a:t>
            </a: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68" dirty="0">
                <a:solidFill>
                  <a:srgbClr val="22D3EE"/>
                </a:solidFill>
              </a:rPr>
              <a:t>stream</a:t>
            </a:r>
            <a:r>
              <a:rPr lang="en-US" sz="568" dirty="0">
                <a:solidFill>
                  <a:srgbClr val="E0E7FF"/>
                </a:solidFill>
              </a:rPr>
              <a:t>()</a:t>
            </a:r>
            <a:endParaRPr lang="en-US" sz="534" dirty="0"/>
          </a:p>
        </p:txBody>
      </p:sp>
      <p:sp>
        <p:nvSpPr>
          <p:cNvPr id="54" name="Text 51"/>
          <p:cNvSpPr/>
          <p:nvPr/>
        </p:nvSpPr>
        <p:spPr>
          <a:xfrm>
            <a:off x="4814888" y="3712518"/>
            <a:ext cx="37218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68" dirty="0">
                <a:solidFill>
                  <a:srgbClr val="22D3EE"/>
                </a:solidFill>
              </a:rPr>
              <a:t>collect</a:t>
            </a:r>
            <a:r>
              <a:rPr lang="en-US" sz="568" dirty="0">
                <a:solidFill>
                  <a:srgbClr val="E0E7FF"/>
                </a:solidFill>
              </a:rPr>
              <a:t>(</a:t>
            </a:r>
            <a:endParaRPr lang="en-US" sz="568" dirty="0"/>
          </a:p>
        </p:txBody>
      </p:sp>
      <p:sp>
        <p:nvSpPr>
          <p:cNvPr id="55" name="Text 52"/>
          <p:cNvSpPr/>
          <p:nvPr/>
        </p:nvSpPr>
        <p:spPr>
          <a:xfrm>
            <a:off x="4814888" y="3836808"/>
            <a:ext cx="37218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B923C"/>
                </a:solidFill>
              </a:rPr>
              <a:t>Collectors</a:t>
            </a: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68" dirty="0">
                <a:solidFill>
                  <a:srgbClr val="22D3EE"/>
                </a:solidFill>
              </a:rPr>
              <a:t>groupingBy</a:t>
            </a:r>
            <a:r>
              <a:rPr lang="en-US" sz="568" dirty="0">
                <a:solidFill>
                  <a:srgbClr val="E0E7FF"/>
                </a:solidFill>
              </a:rPr>
              <a:t>(</a:t>
            </a:r>
            <a:endParaRPr lang="en-US" sz="568" dirty="0"/>
          </a:p>
        </p:txBody>
      </p:sp>
      <p:sp>
        <p:nvSpPr>
          <p:cNvPr id="56" name="Text 53"/>
          <p:cNvSpPr/>
          <p:nvPr/>
        </p:nvSpPr>
        <p:spPr>
          <a:xfrm>
            <a:off x="4814888" y="3961098"/>
            <a:ext cx="37218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Client::getAdresse</a:t>
            </a:r>
            <a:endParaRPr lang="en-US" sz="568" dirty="0"/>
          </a:p>
        </p:txBody>
      </p:sp>
      <p:sp>
        <p:nvSpPr>
          <p:cNvPr id="57" name="Text 54"/>
          <p:cNvSpPr/>
          <p:nvPr/>
        </p:nvSpPr>
        <p:spPr>
          <a:xfrm>
            <a:off x="4814888" y="4085388"/>
            <a:ext cx="37218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)</a:t>
            </a:r>
            <a:endParaRPr lang="en-US" sz="568" dirty="0"/>
          </a:p>
        </p:txBody>
      </p:sp>
      <p:sp>
        <p:nvSpPr>
          <p:cNvPr id="58" name="Text 55"/>
          <p:cNvSpPr/>
          <p:nvPr/>
        </p:nvSpPr>
        <p:spPr>
          <a:xfrm>
            <a:off x="4814888" y="4209678"/>
            <a:ext cx="37218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)</a:t>
            </a:r>
            <a:endParaRPr lang="en-US" sz="568" dirty="0"/>
          </a:p>
        </p:txBody>
      </p:sp>
      <p:sp>
        <p:nvSpPr>
          <p:cNvPr id="59" name="Text 56"/>
          <p:cNvSpPr/>
          <p:nvPr/>
        </p:nvSpPr>
        <p:spPr>
          <a:xfrm>
            <a:off x="4743450" y="4601133"/>
            <a:ext cx="386476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22D3EE"/>
                </a:solidFill>
              </a:rPr>
              <a:t>Résultat</a:t>
            </a:r>
            <a:endParaRPr lang="en-US" sz="534" dirty="0"/>
          </a:p>
        </p:txBody>
      </p:sp>
      <p:sp>
        <p:nvSpPr>
          <p:cNvPr id="60" name="Shape 57"/>
          <p:cNvSpPr/>
          <p:nvPr/>
        </p:nvSpPr>
        <p:spPr>
          <a:xfrm>
            <a:off x="4743450" y="4754724"/>
            <a:ext cx="3864769" cy="334305"/>
          </a:xfrm>
          <a:prstGeom prst="rect">
            <a:avLst/>
          </a:prstGeom>
          <a:solidFill>
            <a:srgbClr val="22D3EE">
              <a:alpha val="5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1" name="Shape 58"/>
          <p:cNvSpPr/>
          <p:nvPr/>
        </p:nvSpPr>
        <p:spPr>
          <a:xfrm>
            <a:off x="4743450" y="4754724"/>
            <a:ext cx="14288" cy="334305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2" name="Text 59"/>
          <p:cNvSpPr/>
          <p:nvPr/>
        </p:nvSpPr>
        <p:spPr>
          <a:xfrm>
            <a:off x="4743450" y="4754724"/>
            <a:ext cx="3864769" cy="33430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22D3EE"/>
                </a:solidFill>
              </a:rPr>
              <a:t>Map&lt;String, List&lt;Client&gt;&gt;</a:t>
            </a:r>
            <a:r>
              <a:rPr lang="en-US" sz="568" dirty="0">
                <a:solidFill>
                  <a:srgbClr val="E0E7FF"/>
                </a:solidFill>
              </a:rPr>
              <a:t>
 {Paris→[...], Lyon→[...]}</a:t>
            </a:r>
            <a:endParaRPr lang="en-US" sz="5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FBBF24"/>
                </a:solidFill>
              </a:rPr>
              <a:t>&gt; Opérations Terminales : Réduction &amp; Statistiques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428625" y="1000125"/>
            <a:ext cx="2643188" cy="3786188"/>
          </a:xfrm>
          <a:prstGeom prst="rect">
            <a:avLst/>
          </a:prstGeom>
          <a:solidFill>
            <a:srgbClr val="1A1F3A">
              <a:alpha val="70000"/>
            </a:srgbClr>
          </a:solidFill>
          <a:ln w="9144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Text 2"/>
          <p:cNvSpPr/>
          <p:nvPr/>
        </p:nvSpPr>
        <p:spPr>
          <a:xfrm>
            <a:off x="557213" y="1128713"/>
            <a:ext cx="2386013" cy="203597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kern="0" spc="1" dirty="0">
                <a:solidFill>
                  <a:srgbClr val="FBBF24"/>
                </a:solidFill>
              </a:rPr>
              <a:t>reduce()</a:t>
            </a:r>
            <a:endParaRPr lang="en-US" sz="634" dirty="0"/>
          </a:p>
        </p:txBody>
      </p:sp>
      <p:sp>
        <p:nvSpPr>
          <p:cNvPr id="6" name="Text 3"/>
          <p:cNvSpPr/>
          <p:nvPr/>
        </p:nvSpPr>
        <p:spPr>
          <a:xfrm>
            <a:off x="557213" y="1423392"/>
            <a:ext cx="58227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FB923C">
                    <a:alpha val="70000"/>
                  </a:srgbClr>
                </a:solidFill>
              </a:rPr>
              <a:t>// Combine les</a:t>
            </a:r>
            <a:endParaRPr lang="en-US" sz="621" dirty="0"/>
          </a:p>
        </p:txBody>
      </p:sp>
      <p:sp>
        <p:nvSpPr>
          <p:cNvPr id="7" name="Text 4"/>
          <p:cNvSpPr/>
          <p:nvPr/>
        </p:nvSpPr>
        <p:spPr>
          <a:xfrm>
            <a:off x="557213" y="1573411"/>
            <a:ext cx="65331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FB923C">
                    <a:alpha val="70000"/>
                  </a:srgbClr>
                </a:solidFill>
              </a:rPr>
              <a:t>// éléments en 1</a:t>
            </a:r>
            <a:endParaRPr lang="en-US" sz="621" dirty="0"/>
          </a:p>
        </p:txBody>
      </p:sp>
      <p:sp>
        <p:nvSpPr>
          <p:cNvPr id="8" name="Text 5"/>
          <p:cNvSpPr/>
          <p:nvPr/>
        </p:nvSpPr>
        <p:spPr>
          <a:xfrm>
            <a:off x="557213" y="1718072"/>
            <a:ext cx="23860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BBF24"/>
                </a:solidFill>
              </a:rPr>
              <a:t>double</a:t>
            </a:r>
            <a:r>
              <a:rPr lang="en-US" sz="621" dirty="0">
                <a:solidFill>
                  <a:srgbClr val="E0E7FF"/>
                </a:solidFill>
              </a:rPr>
              <a:t> caTotal =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557213" y="1868091"/>
            <a:ext cx="23860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clients.</a:t>
            </a:r>
            <a:r>
              <a:rPr lang="en-US" sz="584" b="1" dirty="0">
                <a:solidFill>
                  <a:srgbClr val="22D3EE"/>
                </a:solidFill>
              </a:rPr>
              <a:t>stream</a:t>
            </a:r>
            <a:r>
              <a:rPr lang="en-US" sz="621" dirty="0">
                <a:solidFill>
                  <a:srgbClr val="E0E7FF"/>
                </a:solidFill>
              </a:rPr>
              <a:t>()</a:t>
            </a:r>
            <a:endParaRPr lang="en-US" sz="621" dirty="0"/>
          </a:p>
        </p:txBody>
      </p:sp>
      <p:sp>
        <p:nvSpPr>
          <p:cNvPr id="10" name="Text 7"/>
          <p:cNvSpPr/>
          <p:nvPr/>
        </p:nvSpPr>
        <p:spPr>
          <a:xfrm>
            <a:off x="557213" y="2018109"/>
            <a:ext cx="23860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.</a:t>
            </a:r>
            <a:r>
              <a:rPr lang="en-US" sz="584" b="1" dirty="0">
                <a:solidFill>
                  <a:srgbClr val="22D3EE"/>
                </a:solidFill>
              </a:rPr>
              <a:t>mapToDouble</a:t>
            </a:r>
            <a:r>
              <a:rPr lang="en-US" sz="621" dirty="0">
                <a:solidFill>
                  <a:srgbClr val="E0E7FF"/>
                </a:solidFill>
              </a:rPr>
              <a:t>(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557213" y="2168128"/>
            <a:ext cx="23860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Client::getCA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557213" y="2318147"/>
            <a:ext cx="23860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)</a:t>
            </a:r>
            <a:endParaRPr lang="en-US" sz="621" dirty="0"/>
          </a:p>
        </p:txBody>
      </p:sp>
      <p:sp>
        <p:nvSpPr>
          <p:cNvPr id="13" name="Text 10"/>
          <p:cNvSpPr/>
          <p:nvPr/>
        </p:nvSpPr>
        <p:spPr>
          <a:xfrm>
            <a:off x="557213" y="2468166"/>
            <a:ext cx="23860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.</a:t>
            </a:r>
            <a:r>
              <a:rPr lang="en-US" sz="584" b="1" dirty="0">
                <a:solidFill>
                  <a:srgbClr val="22D3EE"/>
                </a:solidFill>
              </a:rPr>
              <a:t>reduce</a:t>
            </a:r>
            <a:r>
              <a:rPr lang="en-US" sz="621" dirty="0">
                <a:solidFill>
                  <a:srgbClr val="E0E7FF"/>
                </a:solidFill>
              </a:rPr>
              <a:t>(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557213" y="2618184"/>
            <a:ext cx="23860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22D3EE"/>
                </a:solidFill>
              </a:rPr>
              <a:t>0.0</a:t>
            </a:r>
            <a:r>
              <a:rPr lang="en-US" sz="621" dirty="0">
                <a:solidFill>
                  <a:srgbClr val="E0E7FF"/>
                </a:solidFill>
              </a:rPr>
              <a:t>,</a:t>
            </a:r>
            <a:endParaRPr lang="en-US" sz="621" dirty="0"/>
          </a:p>
        </p:txBody>
      </p:sp>
      <p:sp>
        <p:nvSpPr>
          <p:cNvPr id="15" name="Text 12"/>
          <p:cNvSpPr/>
          <p:nvPr/>
        </p:nvSpPr>
        <p:spPr>
          <a:xfrm>
            <a:off x="557213" y="2768203"/>
            <a:ext cx="23860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Double::</a:t>
            </a:r>
            <a:r>
              <a:rPr lang="en-US" sz="584" b="1" dirty="0">
                <a:solidFill>
                  <a:srgbClr val="22D3EE"/>
                </a:solidFill>
              </a:rPr>
              <a:t>sum</a:t>
            </a:r>
            <a:endParaRPr lang="en-US" sz="621" dirty="0"/>
          </a:p>
        </p:txBody>
      </p:sp>
      <p:sp>
        <p:nvSpPr>
          <p:cNvPr id="16" name="Text 13"/>
          <p:cNvSpPr/>
          <p:nvPr/>
        </p:nvSpPr>
        <p:spPr>
          <a:xfrm>
            <a:off x="557213" y="2918222"/>
            <a:ext cx="23860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);</a:t>
            </a:r>
            <a:endParaRPr lang="en-US" sz="621" dirty="0"/>
          </a:p>
        </p:txBody>
      </p:sp>
      <p:sp>
        <p:nvSpPr>
          <p:cNvPr id="17" name="Shape 14"/>
          <p:cNvSpPr/>
          <p:nvPr/>
        </p:nvSpPr>
        <p:spPr>
          <a:xfrm>
            <a:off x="557213" y="3132534"/>
            <a:ext cx="2386013" cy="417909"/>
          </a:xfrm>
          <a:prstGeom prst="rect">
            <a:avLst/>
          </a:prstGeom>
          <a:solidFill>
            <a:srgbClr val="22D3EE">
              <a:alpha val="5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8" name="Shape 15"/>
          <p:cNvSpPr/>
          <p:nvPr/>
        </p:nvSpPr>
        <p:spPr>
          <a:xfrm>
            <a:off x="557213" y="3132534"/>
            <a:ext cx="21431" cy="417909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9" name="Text 16"/>
          <p:cNvSpPr/>
          <p:nvPr/>
        </p:nvSpPr>
        <p:spPr>
          <a:xfrm>
            <a:off x="628650" y="3203972"/>
            <a:ext cx="224313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B923C"/>
                </a:solidFill>
              </a:rPr>
              <a:t>Résultat</a:t>
            </a:r>
            <a:endParaRPr lang="en-US" sz="534" dirty="0"/>
          </a:p>
        </p:txBody>
      </p:sp>
      <p:sp>
        <p:nvSpPr>
          <p:cNvPr id="20" name="Text 17"/>
          <p:cNvSpPr/>
          <p:nvPr/>
        </p:nvSpPr>
        <p:spPr>
          <a:xfrm>
            <a:off x="628650" y="3350419"/>
            <a:ext cx="22431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22D3EE"/>
                </a:solidFill>
              </a:rPr>
              <a:t>5,537,500.00 €</a:t>
            </a:r>
            <a:endParaRPr lang="en-US" sz="584" dirty="0"/>
          </a:p>
        </p:txBody>
      </p:sp>
      <p:sp>
        <p:nvSpPr>
          <p:cNvPr id="21" name="Shape 18"/>
          <p:cNvSpPr/>
          <p:nvPr/>
        </p:nvSpPr>
        <p:spPr>
          <a:xfrm>
            <a:off x="3250406" y="1000125"/>
            <a:ext cx="2643188" cy="3786188"/>
          </a:xfrm>
          <a:prstGeom prst="rect">
            <a:avLst/>
          </a:prstGeom>
          <a:solidFill>
            <a:srgbClr val="1A1F3A">
              <a:alpha val="70000"/>
            </a:srgbClr>
          </a:solidFill>
          <a:ln w="9144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2" name="Text 19"/>
          <p:cNvSpPr/>
          <p:nvPr/>
        </p:nvSpPr>
        <p:spPr>
          <a:xfrm>
            <a:off x="3378994" y="1128713"/>
            <a:ext cx="2386013" cy="203597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kern="0" spc="1" dirty="0">
                <a:solidFill>
                  <a:srgbClr val="FBBF24"/>
                </a:solidFill>
              </a:rPr>
              <a:t>Statistiques</a:t>
            </a:r>
            <a:endParaRPr lang="en-US" sz="634" dirty="0"/>
          </a:p>
        </p:txBody>
      </p:sp>
      <p:sp>
        <p:nvSpPr>
          <p:cNvPr id="23" name="Text 20"/>
          <p:cNvSpPr/>
          <p:nvPr/>
        </p:nvSpPr>
        <p:spPr>
          <a:xfrm>
            <a:off x="3378994" y="1418034"/>
            <a:ext cx="23860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BBF24"/>
                </a:solidFill>
              </a:rPr>
              <a:t>count()</a:t>
            </a:r>
            <a:endParaRPr lang="en-US" sz="584" dirty="0"/>
          </a:p>
        </p:txBody>
      </p:sp>
      <p:sp>
        <p:nvSpPr>
          <p:cNvPr id="24" name="Text 21"/>
          <p:cNvSpPr/>
          <p:nvPr/>
        </p:nvSpPr>
        <p:spPr>
          <a:xfrm>
            <a:off x="3378994" y="1575197"/>
            <a:ext cx="23860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Nombre total d'éléments</a:t>
            </a:r>
            <a:endParaRPr lang="en-US" sz="568" dirty="0"/>
          </a:p>
        </p:txBody>
      </p:sp>
      <p:sp>
        <p:nvSpPr>
          <p:cNvPr id="25" name="Text 22"/>
          <p:cNvSpPr/>
          <p:nvPr/>
        </p:nvSpPr>
        <p:spPr>
          <a:xfrm>
            <a:off x="3378994" y="1835218"/>
            <a:ext cx="23860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BBF24"/>
                </a:solidFill>
              </a:rPr>
              <a:t>min()</a:t>
            </a:r>
            <a:endParaRPr lang="en-US" sz="584" dirty="0"/>
          </a:p>
        </p:txBody>
      </p:sp>
      <p:sp>
        <p:nvSpPr>
          <p:cNvPr id="26" name="Text 23"/>
          <p:cNvSpPr/>
          <p:nvPr/>
        </p:nvSpPr>
        <p:spPr>
          <a:xfrm>
            <a:off x="3378994" y="1992381"/>
            <a:ext cx="23860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Élément minimum selon un Comparateur</a:t>
            </a:r>
            <a:endParaRPr lang="en-US" sz="568" dirty="0"/>
          </a:p>
        </p:txBody>
      </p:sp>
      <p:sp>
        <p:nvSpPr>
          <p:cNvPr id="27" name="Text 24"/>
          <p:cNvSpPr/>
          <p:nvPr/>
        </p:nvSpPr>
        <p:spPr>
          <a:xfrm>
            <a:off x="3378994" y="2252402"/>
            <a:ext cx="23860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BBF24"/>
                </a:solidFill>
              </a:rPr>
              <a:t>max()</a:t>
            </a:r>
            <a:endParaRPr lang="en-US" sz="584" dirty="0"/>
          </a:p>
        </p:txBody>
      </p:sp>
      <p:sp>
        <p:nvSpPr>
          <p:cNvPr id="28" name="Text 25"/>
          <p:cNvSpPr/>
          <p:nvPr/>
        </p:nvSpPr>
        <p:spPr>
          <a:xfrm>
            <a:off x="3378994" y="2409565"/>
            <a:ext cx="23860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Élément maximum selon un Comparateur</a:t>
            </a:r>
            <a:endParaRPr lang="en-US" sz="568" dirty="0"/>
          </a:p>
        </p:txBody>
      </p:sp>
      <p:sp>
        <p:nvSpPr>
          <p:cNvPr id="29" name="Text 26"/>
          <p:cNvSpPr/>
          <p:nvPr/>
        </p:nvSpPr>
        <p:spPr>
          <a:xfrm>
            <a:off x="3378994" y="2669586"/>
            <a:ext cx="23860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BBF24"/>
                </a:solidFill>
              </a:rPr>
              <a:t>average()</a:t>
            </a:r>
            <a:endParaRPr lang="en-US" sz="584" dirty="0"/>
          </a:p>
        </p:txBody>
      </p:sp>
      <p:sp>
        <p:nvSpPr>
          <p:cNvPr id="30" name="Text 27"/>
          <p:cNvSpPr/>
          <p:nvPr/>
        </p:nvSpPr>
        <p:spPr>
          <a:xfrm>
            <a:off x="3378994" y="2826748"/>
            <a:ext cx="23860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Moyenne (DoubleStream)</a:t>
            </a:r>
            <a:endParaRPr lang="en-US" sz="568" dirty="0"/>
          </a:p>
        </p:txBody>
      </p:sp>
      <p:sp>
        <p:nvSpPr>
          <p:cNvPr id="31" name="Text 28"/>
          <p:cNvSpPr/>
          <p:nvPr/>
        </p:nvSpPr>
        <p:spPr>
          <a:xfrm>
            <a:off x="3378994" y="3086770"/>
            <a:ext cx="23860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BBF24"/>
                </a:solidFill>
              </a:rPr>
              <a:t>sum()</a:t>
            </a:r>
            <a:endParaRPr lang="en-US" sz="584" dirty="0"/>
          </a:p>
        </p:txBody>
      </p:sp>
      <p:sp>
        <p:nvSpPr>
          <p:cNvPr id="32" name="Text 29"/>
          <p:cNvSpPr/>
          <p:nvPr/>
        </p:nvSpPr>
        <p:spPr>
          <a:xfrm>
            <a:off x="3378994" y="3243932"/>
            <a:ext cx="23860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Somme (Streams Primitifs)</a:t>
            </a:r>
            <a:endParaRPr lang="en-US" sz="568" dirty="0"/>
          </a:p>
        </p:txBody>
      </p:sp>
      <p:sp>
        <p:nvSpPr>
          <p:cNvPr id="33" name="Shape 30"/>
          <p:cNvSpPr/>
          <p:nvPr/>
        </p:nvSpPr>
        <p:spPr>
          <a:xfrm>
            <a:off x="6072188" y="1000125"/>
            <a:ext cx="2643188" cy="3786188"/>
          </a:xfrm>
          <a:prstGeom prst="rect">
            <a:avLst/>
          </a:prstGeom>
          <a:solidFill>
            <a:srgbClr val="1A1F3A">
              <a:alpha val="70000"/>
            </a:srgbClr>
          </a:solidFill>
          <a:ln w="9144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4" name="Text 31"/>
          <p:cNvSpPr/>
          <p:nvPr/>
        </p:nvSpPr>
        <p:spPr>
          <a:xfrm>
            <a:off x="6200775" y="1128713"/>
            <a:ext cx="2386013" cy="203597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kern="0" spc="1" dirty="0">
                <a:solidFill>
                  <a:srgbClr val="FBBF24"/>
                </a:solidFill>
              </a:rPr>
              <a:t>Exemples</a:t>
            </a:r>
            <a:endParaRPr lang="en-US" sz="634" dirty="0"/>
          </a:p>
        </p:txBody>
      </p:sp>
      <p:sp>
        <p:nvSpPr>
          <p:cNvPr id="35" name="Text 32"/>
          <p:cNvSpPr/>
          <p:nvPr/>
        </p:nvSpPr>
        <p:spPr>
          <a:xfrm>
            <a:off x="6200775" y="1423392"/>
            <a:ext cx="64388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FB923C">
                    <a:alpha val="70000"/>
                  </a:srgbClr>
                </a:solidFill>
              </a:rPr>
              <a:t>// Client max CA</a:t>
            </a:r>
            <a:endParaRPr lang="en-US" sz="621" dirty="0"/>
          </a:p>
        </p:txBody>
      </p:sp>
      <p:sp>
        <p:nvSpPr>
          <p:cNvPr id="36" name="Text 33"/>
          <p:cNvSpPr/>
          <p:nvPr/>
        </p:nvSpPr>
        <p:spPr>
          <a:xfrm>
            <a:off x="6200775" y="1568053"/>
            <a:ext cx="23860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BBF24"/>
                </a:solidFill>
              </a:rPr>
              <a:t>Optional</a:t>
            </a:r>
            <a:r>
              <a:rPr lang="en-US" sz="621" dirty="0">
                <a:solidFill>
                  <a:srgbClr val="E0E7FF"/>
                </a:solidFill>
              </a:rPr>
              <a:t>&lt;Client&gt;</a:t>
            </a:r>
            <a:endParaRPr lang="en-US" sz="584" dirty="0"/>
          </a:p>
        </p:txBody>
      </p:sp>
      <p:sp>
        <p:nvSpPr>
          <p:cNvPr id="37" name="Text 34"/>
          <p:cNvSpPr/>
          <p:nvPr/>
        </p:nvSpPr>
        <p:spPr>
          <a:xfrm>
            <a:off x="6200775" y="1718072"/>
            <a:ext cx="23860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maxClient =</a:t>
            </a:r>
            <a:endParaRPr lang="en-US" sz="621" dirty="0"/>
          </a:p>
        </p:txBody>
      </p:sp>
      <p:sp>
        <p:nvSpPr>
          <p:cNvPr id="38" name="Text 35"/>
          <p:cNvSpPr/>
          <p:nvPr/>
        </p:nvSpPr>
        <p:spPr>
          <a:xfrm>
            <a:off x="6200775" y="1868091"/>
            <a:ext cx="23860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clients.</a:t>
            </a:r>
            <a:r>
              <a:rPr lang="en-US" sz="584" b="1" dirty="0">
                <a:solidFill>
                  <a:srgbClr val="22D3EE"/>
                </a:solidFill>
              </a:rPr>
              <a:t>stream</a:t>
            </a:r>
            <a:r>
              <a:rPr lang="en-US" sz="621" dirty="0">
                <a:solidFill>
                  <a:srgbClr val="E0E7FF"/>
                </a:solidFill>
              </a:rPr>
              <a:t>()</a:t>
            </a:r>
            <a:endParaRPr lang="en-US" sz="621" dirty="0"/>
          </a:p>
        </p:txBody>
      </p:sp>
      <p:sp>
        <p:nvSpPr>
          <p:cNvPr id="39" name="Text 36"/>
          <p:cNvSpPr/>
          <p:nvPr/>
        </p:nvSpPr>
        <p:spPr>
          <a:xfrm>
            <a:off x="6200775" y="2018109"/>
            <a:ext cx="23860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.</a:t>
            </a:r>
            <a:r>
              <a:rPr lang="en-US" sz="584" b="1" dirty="0">
                <a:solidFill>
                  <a:srgbClr val="22D3EE"/>
                </a:solidFill>
              </a:rPr>
              <a:t>max</a:t>
            </a:r>
            <a:r>
              <a:rPr lang="en-US" sz="621" dirty="0">
                <a:solidFill>
                  <a:srgbClr val="E0E7FF"/>
                </a:solidFill>
              </a:rPr>
              <a:t>(</a:t>
            </a:r>
            <a:endParaRPr lang="en-US" sz="621" dirty="0"/>
          </a:p>
        </p:txBody>
      </p:sp>
      <p:sp>
        <p:nvSpPr>
          <p:cNvPr id="40" name="Text 37"/>
          <p:cNvSpPr/>
          <p:nvPr/>
        </p:nvSpPr>
        <p:spPr>
          <a:xfrm>
            <a:off x="6200775" y="2168128"/>
            <a:ext cx="23860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Comparator</a:t>
            </a:r>
            <a:endParaRPr lang="en-US" sz="621" dirty="0"/>
          </a:p>
        </p:txBody>
      </p:sp>
      <p:sp>
        <p:nvSpPr>
          <p:cNvPr id="41" name="Text 38"/>
          <p:cNvSpPr/>
          <p:nvPr/>
        </p:nvSpPr>
        <p:spPr>
          <a:xfrm>
            <a:off x="6200775" y="2318147"/>
            <a:ext cx="23860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.</a:t>
            </a:r>
            <a:r>
              <a:rPr lang="en-US" sz="584" b="1" dirty="0">
                <a:solidFill>
                  <a:srgbClr val="22D3EE"/>
                </a:solidFill>
              </a:rPr>
              <a:t>comparing</a:t>
            </a:r>
            <a:r>
              <a:rPr lang="en-US" sz="621" dirty="0">
                <a:solidFill>
                  <a:srgbClr val="E0E7FF"/>
                </a:solidFill>
              </a:rPr>
              <a:t>(</a:t>
            </a:r>
            <a:endParaRPr lang="en-US" sz="621" dirty="0"/>
          </a:p>
        </p:txBody>
      </p:sp>
      <p:sp>
        <p:nvSpPr>
          <p:cNvPr id="42" name="Text 39"/>
          <p:cNvSpPr/>
          <p:nvPr/>
        </p:nvSpPr>
        <p:spPr>
          <a:xfrm>
            <a:off x="6200775" y="2468166"/>
            <a:ext cx="23860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Client::getCA</a:t>
            </a:r>
            <a:endParaRPr lang="en-US" sz="621" dirty="0"/>
          </a:p>
        </p:txBody>
      </p:sp>
      <p:sp>
        <p:nvSpPr>
          <p:cNvPr id="43" name="Text 40"/>
          <p:cNvSpPr/>
          <p:nvPr/>
        </p:nvSpPr>
        <p:spPr>
          <a:xfrm>
            <a:off x="6200775" y="2618184"/>
            <a:ext cx="23860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)</a:t>
            </a:r>
            <a:endParaRPr lang="en-US" sz="621" dirty="0"/>
          </a:p>
        </p:txBody>
      </p:sp>
      <p:sp>
        <p:nvSpPr>
          <p:cNvPr id="44" name="Text 41"/>
          <p:cNvSpPr/>
          <p:nvPr/>
        </p:nvSpPr>
        <p:spPr>
          <a:xfrm>
            <a:off x="6200775" y="2768203"/>
            <a:ext cx="23860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);</a:t>
            </a:r>
            <a:endParaRPr lang="en-US" sz="621" dirty="0"/>
          </a:p>
        </p:txBody>
      </p:sp>
      <p:sp>
        <p:nvSpPr>
          <p:cNvPr id="45" name="Shape 42"/>
          <p:cNvSpPr/>
          <p:nvPr/>
        </p:nvSpPr>
        <p:spPr>
          <a:xfrm>
            <a:off x="6200775" y="2982516"/>
            <a:ext cx="2386013" cy="417909"/>
          </a:xfrm>
          <a:prstGeom prst="rect">
            <a:avLst/>
          </a:prstGeom>
          <a:solidFill>
            <a:srgbClr val="22D3EE">
              <a:alpha val="5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6" name="Shape 43"/>
          <p:cNvSpPr/>
          <p:nvPr/>
        </p:nvSpPr>
        <p:spPr>
          <a:xfrm>
            <a:off x="6200775" y="2982516"/>
            <a:ext cx="21431" cy="417909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7" name="Text 44"/>
          <p:cNvSpPr/>
          <p:nvPr/>
        </p:nvSpPr>
        <p:spPr>
          <a:xfrm>
            <a:off x="6272213" y="3053953"/>
            <a:ext cx="224313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B923C"/>
                </a:solidFill>
              </a:rPr>
              <a:t>Résultat</a:t>
            </a:r>
            <a:endParaRPr lang="en-US" sz="534" dirty="0"/>
          </a:p>
        </p:txBody>
      </p:sp>
      <p:sp>
        <p:nvSpPr>
          <p:cNvPr id="48" name="Text 45"/>
          <p:cNvSpPr/>
          <p:nvPr/>
        </p:nvSpPr>
        <p:spPr>
          <a:xfrm>
            <a:off x="6272213" y="3200400"/>
            <a:ext cx="22431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22D3EE"/>
                </a:solidFill>
              </a:rPr>
              <a:t>Dubois (1.2M €)</a:t>
            </a:r>
            <a:endParaRPr lang="en-US" sz="58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292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FBBF24"/>
                </a:solidFill>
              </a:rPr>
              <a:t>&gt; Opérations Terminales : Recherche et Vérification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428625" y="1000125"/>
            <a:ext cx="4054078" cy="1971675"/>
          </a:xfrm>
          <a:prstGeom prst="rect">
            <a:avLst/>
          </a:prstGeom>
          <a:solidFill>
            <a:srgbClr val="1A1F3A">
              <a:alpha val="50000"/>
            </a:srgbClr>
          </a:solidFill>
          <a:ln w="9144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376832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FB923C"/>
                </a:solidFill>
              </a:rPr>
              <a:t>① anyMatch()</a:t>
            </a:r>
            <a:endParaRPr lang="en-US" sz="683" dirty="0"/>
          </a:p>
        </p:txBody>
      </p:sp>
      <p:sp>
        <p:nvSpPr>
          <p:cNvPr id="6" name="Shape 3"/>
          <p:cNvSpPr/>
          <p:nvPr/>
        </p:nvSpPr>
        <p:spPr>
          <a:xfrm>
            <a:off x="571500" y="1378744"/>
            <a:ext cx="3768328" cy="785813"/>
          </a:xfrm>
          <a:prstGeom prst="rect">
            <a:avLst/>
          </a:prstGeom>
          <a:solidFill>
            <a:srgbClr val="1A1F3A">
              <a:alpha val="8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Shape 4"/>
          <p:cNvSpPr/>
          <p:nvPr/>
        </p:nvSpPr>
        <p:spPr>
          <a:xfrm>
            <a:off x="571500" y="1378744"/>
            <a:ext cx="21431" cy="785813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8" name="Text 5"/>
          <p:cNvSpPr/>
          <p:nvPr/>
        </p:nvSpPr>
        <p:spPr>
          <a:xfrm>
            <a:off x="657225" y="1464469"/>
            <a:ext cx="35968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BBF24"/>
                </a:solidFill>
              </a:rPr>
              <a:t>boolean</a:t>
            </a:r>
            <a:r>
              <a:rPr lang="en-US" sz="621" dirty="0">
                <a:solidFill>
                  <a:srgbClr val="E0E7FF"/>
                </a:solidFill>
              </a:rPr>
              <a:t> existe =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657225" y="1614488"/>
            <a:ext cx="35968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clients.stream()</a:t>
            </a:r>
            <a:endParaRPr lang="en-US" sz="621" dirty="0"/>
          </a:p>
        </p:txBody>
      </p:sp>
      <p:sp>
        <p:nvSpPr>
          <p:cNvPr id="10" name="Text 7"/>
          <p:cNvSpPr/>
          <p:nvPr/>
        </p:nvSpPr>
        <p:spPr>
          <a:xfrm>
            <a:off x="657225" y="1764506"/>
            <a:ext cx="35968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.</a:t>
            </a:r>
            <a:r>
              <a:rPr lang="en-US" sz="584" b="1" dirty="0">
                <a:solidFill>
                  <a:srgbClr val="FBBF24"/>
                </a:solidFill>
              </a:rPr>
              <a:t>anyMatch</a:t>
            </a:r>
            <a:r>
              <a:rPr lang="en-US" sz="621" dirty="0">
                <a:solidFill>
                  <a:srgbClr val="E0E7FF"/>
                </a:solidFill>
              </a:rPr>
              <a:t>(c →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657225" y="1914525"/>
            <a:ext cx="35968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c.CA &gt; 1000000);</a:t>
            </a:r>
            <a:endParaRPr lang="en-US" sz="621" dirty="0"/>
          </a:p>
        </p:txBody>
      </p:sp>
      <p:sp>
        <p:nvSpPr>
          <p:cNvPr id="12" name="Shape 9"/>
          <p:cNvSpPr/>
          <p:nvPr/>
        </p:nvSpPr>
        <p:spPr>
          <a:xfrm>
            <a:off x="571500" y="2250281"/>
            <a:ext cx="3768328" cy="578644"/>
          </a:xfrm>
          <a:prstGeom prst="rect">
            <a:avLst/>
          </a:prstGeom>
          <a:solidFill>
            <a:srgbClr val="22D3EE">
              <a:alpha val="8000"/>
            </a:srgbClr>
          </a:solidFill>
          <a:ln w="9144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3" name="Text 10"/>
          <p:cNvSpPr/>
          <p:nvPr/>
        </p:nvSpPr>
        <p:spPr>
          <a:xfrm>
            <a:off x="642938" y="2336006"/>
            <a:ext cx="362545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22D3EE"/>
                </a:solidFill>
              </a:rPr>
              <a:t>Retourne</a:t>
            </a:r>
            <a:endParaRPr lang="en-US" sz="534" dirty="0"/>
          </a:p>
        </p:txBody>
      </p:sp>
      <p:sp>
        <p:nvSpPr>
          <p:cNvPr id="14" name="Text 11"/>
          <p:cNvSpPr/>
          <p:nvPr/>
        </p:nvSpPr>
        <p:spPr>
          <a:xfrm>
            <a:off x="642938" y="2482453"/>
            <a:ext cx="362545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BBF24"/>
                </a:solidFill>
              </a:rPr>
              <a:t>boolean</a:t>
            </a:r>
            <a:endParaRPr lang="en-US" sz="584" dirty="0"/>
          </a:p>
        </p:txBody>
      </p:sp>
      <p:sp>
        <p:nvSpPr>
          <p:cNvPr id="15" name="Text 12"/>
          <p:cNvSpPr/>
          <p:nvPr/>
        </p:nvSpPr>
        <p:spPr>
          <a:xfrm>
            <a:off x="642938" y="2639616"/>
            <a:ext cx="362545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>
                    <a:alpha val="90000"/>
                  </a:srgbClr>
                </a:solidFill>
              </a:rPr>
              <a:t>Vrai si au moins un client a CA &gt; 1M</a:t>
            </a:r>
            <a:endParaRPr lang="en-US" sz="568" dirty="0"/>
          </a:p>
        </p:txBody>
      </p:sp>
      <p:sp>
        <p:nvSpPr>
          <p:cNvPr id="16" name="Shape 13"/>
          <p:cNvSpPr/>
          <p:nvPr/>
        </p:nvSpPr>
        <p:spPr>
          <a:xfrm>
            <a:off x="4661297" y="1000125"/>
            <a:ext cx="4054078" cy="1971675"/>
          </a:xfrm>
          <a:prstGeom prst="rect">
            <a:avLst/>
          </a:prstGeom>
          <a:solidFill>
            <a:srgbClr val="1A1F3A">
              <a:alpha val="50000"/>
            </a:srgbClr>
          </a:solidFill>
          <a:ln w="9144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7" name="Text 14"/>
          <p:cNvSpPr/>
          <p:nvPr/>
        </p:nvSpPr>
        <p:spPr>
          <a:xfrm>
            <a:off x="4804172" y="1143000"/>
            <a:ext cx="376832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FB923C"/>
                </a:solidFill>
              </a:rPr>
              <a:t>② allMatch()</a:t>
            </a:r>
            <a:endParaRPr lang="en-US" sz="683" dirty="0"/>
          </a:p>
        </p:txBody>
      </p:sp>
      <p:sp>
        <p:nvSpPr>
          <p:cNvPr id="18" name="Shape 15"/>
          <p:cNvSpPr/>
          <p:nvPr/>
        </p:nvSpPr>
        <p:spPr>
          <a:xfrm>
            <a:off x="4804172" y="1378744"/>
            <a:ext cx="3768328" cy="771525"/>
          </a:xfrm>
          <a:prstGeom prst="rect">
            <a:avLst/>
          </a:prstGeom>
          <a:solidFill>
            <a:srgbClr val="1A1F3A">
              <a:alpha val="8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9" name="Shape 16"/>
          <p:cNvSpPr/>
          <p:nvPr/>
        </p:nvSpPr>
        <p:spPr>
          <a:xfrm>
            <a:off x="4804172" y="1378744"/>
            <a:ext cx="21431" cy="77152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0" name="Text 17"/>
          <p:cNvSpPr/>
          <p:nvPr/>
        </p:nvSpPr>
        <p:spPr>
          <a:xfrm>
            <a:off x="4889897" y="1464469"/>
            <a:ext cx="35968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BBF24"/>
                </a:solidFill>
              </a:rPr>
              <a:t>boolean</a:t>
            </a:r>
            <a:r>
              <a:rPr lang="en-US" sz="621" dirty="0">
                <a:solidFill>
                  <a:srgbClr val="E0E7FF"/>
                </a:solidFill>
              </a:rPr>
              <a:t> tous =</a:t>
            </a:r>
            <a:endParaRPr lang="en-US" sz="584" dirty="0"/>
          </a:p>
        </p:txBody>
      </p:sp>
      <p:sp>
        <p:nvSpPr>
          <p:cNvPr id="21" name="Text 18"/>
          <p:cNvSpPr/>
          <p:nvPr/>
        </p:nvSpPr>
        <p:spPr>
          <a:xfrm>
            <a:off x="4889897" y="1614488"/>
            <a:ext cx="35968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clients.stream()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4889897" y="1764506"/>
            <a:ext cx="35968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.</a:t>
            </a:r>
            <a:r>
              <a:rPr lang="en-US" sz="584" b="1" dirty="0">
                <a:solidFill>
                  <a:srgbClr val="FBBF24"/>
                </a:solidFill>
              </a:rPr>
              <a:t>allMatch</a:t>
            </a:r>
            <a:r>
              <a:rPr lang="en-US" sz="621" dirty="0">
                <a:solidFill>
                  <a:srgbClr val="E0E7FF"/>
                </a:solidFill>
              </a:rPr>
              <a:t>(c →</a:t>
            </a: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4889897" y="1914525"/>
            <a:ext cx="35968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c.CA &gt; 50000);</a:t>
            </a:r>
            <a:endParaRPr lang="en-US" sz="621" dirty="0"/>
          </a:p>
        </p:txBody>
      </p:sp>
      <p:sp>
        <p:nvSpPr>
          <p:cNvPr id="24" name="Shape 21"/>
          <p:cNvSpPr/>
          <p:nvPr/>
        </p:nvSpPr>
        <p:spPr>
          <a:xfrm>
            <a:off x="4804172" y="2235994"/>
            <a:ext cx="3768328" cy="578644"/>
          </a:xfrm>
          <a:prstGeom prst="rect">
            <a:avLst/>
          </a:prstGeom>
          <a:solidFill>
            <a:srgbClr val="22D3EE">
              <a:alpha val="8000"/>
            </a:srgbClr>
          </a:solidFill>
          <a:ln w="9144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5" name="Text 22"/>
          <p:cNvSpPr/>
          <p:nvPr/>
        </p:nvSpPr>
        <p:spPr>
          <a:xfrm>
            <a:off x="4875609" y="2307431"/>
            <a:ext cx="362545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22D3EE"/>
                </a:solidFill>
              </a:rPr>
              <a:t>Retourne</a:t>
            </a:r>
            <a:endParaRPr lang="en-US" sz="534" dirty="0"/>
          </a:p>
        </p:txBody>
      </p:sp>
      <p:sp>
        <p:nvSpPr>
          <p:cNvPr id="26" name="Text 23"/>
          <p:cNvSpPr/>
          <p:nvPr/>
        </p:nvSpPr>
        <p:spPr>
          <a:xfrm>
            <a:off x="4875609" y="2453878"/>
            <a:ext cx="362545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BBF24"/>
                </a:solidFill>
              </a:rPr>
              <a:t>boolean</a:t>
            </a:r>
            <a:endParaRPr lang="en-US" sz="584" dirty="0"/>
          </a:p>
        </p:txBody>
      </p:sp>
      <p:sp>
        <p:nvSpPr>
          <p:cNvPr id="27" name="Text 24"/>
          <p:cNvSpPr/>
          <p:nvPr/>
        </p:nvSpPr>
        <p:spPr>
          <a:xfrm>
            <a:off x="4875609" y="2611041"/>
            <a:ext cx="362545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>
                    <a:alpha val="90000"/>
                  </a:srgbClr>
                </a:solidFill>
              </a:rPr>
              <a:t>Vrai si TOUS les clients ont CA &gt; 50k</a:t>
            </a:r>
            <a:endParaRPr lang="en-US" sz="568" dirty="0"/>
          </a:p>
        </p:txBody>
      </p:sp>
      <p:sp>
        <p:nvSpPr>
          <p:cNvPr id="28" name="Shape 25"/>
          <p:cNvSpPr/>
          <p:nvPr/>
        </p:nvSpPr>
        <p:spPr>
          <a:xfrm>
            <a:off x="428625" y="3121819"/>
            <a:ext cx="4054078" cy="2121694"/>
          </a:xfrm>
          <a:prstGeom prst="rect">
            <a:avLst/>
          </a:prstGeom>
          <a:solidFill>
            <a:srgbClr val="1A1F3A">
              <a:alpha val="50000"/>
            </a:srgbClr>
          </a:solidFill>
          <a:ln w="9144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9" name="Text 26"/>
          <p:cNvSpPr/>
          <p:nvPr/>
        </p:nvSpPr>
        <p:spPr>
          <a:xfrm>
            <a:off x="571500" y="3264694"/>
            <a:ext cx="376832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FB923C"/>
                </a:solidFill>
              </a:rPr>
              <a:t>③ findFirst()</a:t>
            </a:r>
            <a:endParaRPr lang="en-US" sz="683" dirty="0"/>
          </a:p>
        </p:txBody>
      </p:sp>
      <p:sp>
        <p:nvSpPr>
          <p:cNvPr id="30" name="Shape 27"/>
          <p:cNvSpPr/>
          <p:nvPr/>
        </p:nvSpPr>
        <p:spPr>
          <a:xfrm>
            <a:off x="571500" y="3500438"/>
            <a:ext cx="3768328" cy="935831"/>
          </a:xfrm>
          <a:prstGeom prst="rect">
            <a:avLst/>
          </a:prstGeom>
          <a:solidFill>
            <a:srgbClr val="1A1F3A">
              <a:alpha val="8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1" name="Shape 28"/>
          <p:cNvSpPr/>
          <p:nvPr/>
        </p:nvSpPr>
        <p:spPr>
          <a:xfrm>
            <a:off x="571500" y="3500438"/>
            <a:ext cx="21431" cy="935831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2" name="Text 29"/>
          <p:cNvSpPr/>
          <p:nvPr/>
        </p:nvSpPr>
        <p:spPr>
          <a:xfrm>
            <a:off x="657225" y="3586163"/>
            <a:ext cx="35968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22D3EE"/>
                </a:solidFill>
              </a:rPr>
              <a:t>Optional</a:t>
            </a:r>
            <a:r>
              <a:rPr lang="en-US" sz="621" dirty="0">
                <a:solidFill>
                  <a:srgbClr val="E0E7FF"/>
                </a:solidFill>
              </a:rPr>
              <a:t>&lt;Client&gt; first =</a:t>
            </a:r>
            <a:endParaRPr lang="en-US" sz="621" dirty="0"/>
          </a:p>
        </p:txBody>
      </p:sp>
      <p:sp>
        <p:nvSpPr>
          <p:cNvPr id="33" name="Text 30"/>
          <p:cNvSpPr/>
          <p:nvPr/>
        </p:nvSpPr>
        <p:spPr>
          <a:xfrm>
            <a:off x="657225" y="3736181"/>
            <a:ext cx="35968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clients.stream()</a:t>
            </a:r>
            <a:endParaRPr lang="en-US" sz="621" dirty="0"/>
          </a:p>
        </p:txBody>
      </p:sp>
      <p:sp>
        <p:nvSpPr>
          <p:cNvPr id="34" name="Text 31"/>
          <p:cNvSpPr/>
          <p:nvPr/>
        </p:nvSpPr>
        <p:spPr>
          <a:xfrm>
            <a:off x="657225" y="3886200"/>
            <a:ext cx="35968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.</a:t>
            </a:r>
            <a:r>
              <a:rPr lang="en-US" sz="584" b="1" dirty="0">
                <a:solidFill>
                  <a:srgbClr val="FBBF24"/>
                </a:solidFill>
              </a:rPr>
              <a:t>filter</a:t>
            </a:r>
            <a:r>
              <a:rPr lang="en-US" sz="621" dirty="0">
                <a:solidFill>
                  <a:srgbClr val="E0E7FF"/>
                </a:solidFill>
              </a:rPr>
              <a:t>(c →</a:t>
            </a:r>
            <a:endParaRPr lang="en-US" sz="621" dirty="0"/>
          </a:p>
        </p:txBody>
      </p:sp>
      <p:sp>
        <p:nvSpPr>
          <p:cNvPr id="35" name="Text 32"/>
          <p:cNvSpPr/>
          <p:nvPr/>
        </p:nvSpPr>
        <p:spPr>
          <a:xfrm>
            <a:off x="657225" y="4036219"/>
            <a:ext cx="35968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FB923C"/>
                </a:solidFill>
              </a:rPr>
              <a:t>"Lyon"</a:t>
            </a:r>
            <a:r>
              <a:rPr lang="en-US" sz="621" dirty="0">
                <a:solidFill>
                  <a:srgbClr val="E0E7FF"/>
                </a:solidFill>
              </a:rPr>
              <a:t>.equals(c.ville))</a:t>
            </a:r>
            <a:endParaRPr lang="en-US" sz="621" dirty="0"/>
          </a:p>
        </p:txBody>
      </p:sp>
      <p:sp>
        <p:nvSpPr>
          <p:cNvPr id="36" name="Text 33"/>
          <p:cNvSpPr/>
          <p:nvPr/>
        </p:nvSpPr>
        <p:spPr>
          <a:xfrm>
            <a:off x="657225" y="4186238"/>
            <a:ext cx="35968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.</a:t>
            </a:r>
            <a:r>
              <a:rPr lang="en-US" sz="584" b="1" dirty="0">
                <a:solidFill>
                  <a:srgbClr val="FBBF24"/>
                </a:solidFill>
              </a:rPr>
              <a:t>findFirst</a:t>
            </a:r>
            <a:r>
              <a:rPr lang="en-US" sz="621" dirty="0">
                <a:solidFill>
                  <a:srgbClr val="E0E7FF"/>
                </a:solidFill>
              </a:rPr>
              <a:t>();</a:t>
            </a:r>
            <a:endParaRPr lang="en-US" sz="621" dirty="0"/>
          </a:p>
        </p:txBody>
      </p:sp>
      <p:sp>
        <p:nvSpPr>
          <p:cNvPr id="37" name="Shape 34"/>
          <p:cNvSpPr/>
          <p:nvPr/>
        </p:nvSpPr>
        <p:spPr>
          <a:xfrm>
            <a:off x="571500" y="4521994"/>
            <a:ext cx="3768328" cy="578644"/>
          </a:xfrm>
          <a:prstGeom prst="rect">
            <a:avLst/>
          </a:prstGeom>
          <a:solidFill>
            <a:srgbClr val="22D3EE">
              <a:alpha val="8000"/>
            </a:srgbClr>
          </a:solidFill>
          <a:ln w="9144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8" name="Text 35"/>
          <p:cNvSpPr/>
          <p:nvPr/>
        </p:nvSpPr>
        <p:spPr>
          <a:xfrm>
            <a:off x="642938" y="4607719"/>
            <a:ext cx="362545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22D3EE"/>
                </a:solidFill>
              </a:rPr>
              <a:t>Retourne</a:t>
            </a:r>
            <a:endParaRPr lang="en-US" sz="534" dirty="0"/>
          </a:p>
        </p:txBody>
      </p:sp>
      <p:sp>
        <p:nvSpPr>
          <p:cNvPr id="39" name="Text 36"/>
          <p:cNvSpPr/>
          <p:nvPr/>
        </p:nvSpPr>
        <p:spPr>
          <a:xfrm>
            <a:off x="642938" y="4754166"/>
            <a:ext cx="362545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BBF24"/>
                </a:solidFill>
              </a:rPr>
              <a:t>Optional&lt;Client&gt;</a:t>
            </a:r>
            <a:endParaRPr lang="en-US" sz="584" dirty="0"/>
          </a:p>
        </p:txBody>
      </p:sp>
      <p:sp>
        <p:nvSpPr>
          <p:cNvPr id="40" name="Text 37"/>
          <p:cNvSpPr/>
          <p:nvPr/>
        </p:nvSpPr>
        <p:spPr>
          <a:xfrm>
            <a:off x="642938" y="4911328"/>
            <a:ext cx="362545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>
                    <a:alpha val="90000"/>
                  </a:srgbClr>
                </a:solidFill>
              </a:rPr>
              <a:t>Premier client de Lyon (ou vide)</a:t>
            </a:r>
            <a:endParaRPr lang="en-US" sz="568" dirty="0"/>
          </a:p>
        </p:txBody>
      </p:sp>
      <p:sp>
        <p:nvSpPr>
          <p:cNvPr id="41" name="Shape 38"/>
          <p:cNvSpPr/>
          <p:nvPr/>
        </p:nvSpPr>
        <p:spPr>
          <a:xfrm>
            <a:off x="4661297" y="3121819"/>
            <a:ext cx="4054078" cy="2121694"/>
          </a:xfrm>
          <a:prstGeom prst="rect">
            <a:avLst/>
          </a:prstGeom>
          <a:solidFill>
            <a:srgbClr val="1A1F3A">
              <a:alpha val="50000"/>
            </a:srgbClr>
          </a:solidFill>
          <a:ln w="9144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2" name="Text 39"/>
          <p:cNvSpPr/>
          <p:nvPr/>
        </p:nvSpPr>
        <p:spPr>
          <a:xfrm>
            <a:off x="4804172" y="3264694"/>
            <a:ext cx="376832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FB923C"/>
                </a:solidFill>
              </a:rPr>
              <a:t>④ findAny()</a:t>
            </a:r>
            <a:endParaRPr lang="en-US" sz="683" dirty="0"/>
          </a:p>
        </p:txBody>
      </p:sp>
      <p:sp>
        <p:nvSpPr>
          <p:cNvPr id="43" name="Shape 40"/>
          <p:cNvSpPr/>
          <p:nvPr/>
        </p:nvSpPr>
        <p:spPr>
          <a:xfrm>
            <a:off x="4804172" y="3500438"/>
            <a:ext cx="3768328" cy="921544"/>
          </a:xfrm>
          <a:prstGeom prst="rect">
            <a:avLst/>
          </a:prstGeom>
          <a:solidFill>
            <a:srgbClr val="1A1F3A">
              <a:alpha val="8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4" name="Shape 41"/>
          <p:cNvSpPr/>
          <p:nvPr/>
        </p:nvSpPr>
        <p:spPr>
          <a:xfrm>
            <a:off x="4804172" y="3500438"/>
            <a:ext cx="21431" cy="92154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5" name="Text 42"/>
          <p:cNvSpPr/>
          <p:nvPr/>
        </p:nvSpPr>
        <p:spPr>
          <a:xfrm>
            <a:off x="4889897" y="3586163"/>
            <a:ext cx="35968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22D3EE"/>
                </a:solidFill>
              </a:rPr>
              <a:t>Optional</a:t>
            </a:r>
            <a:r>
              <a:rPr lang="en-US" sz="621" dirty="0">
                <a:solidFill>
                  <a:srgbClr val="E0E7FF"/>
                </a:solidFill>
              </a:rPr>
              <a:t>&lt;Client&gt; any =</a:t>
            </a:r>
            <a:endParaRPr lang="en-US" sz="621" dirty="0"/>
          </a:p>
        </p:txBody>
      </p:sp>
      <p:sp>
        <p:nvSpPr>
          <p:cNvPr id="46" name="Text 43"/>
          <p:cNvSpPr/>
          <p:nvPr/>
        </p:nvSpPr>
        <p:spPr>
          <a:xfrm>
            <a:off x="4889897" y="3736181"/>
            <a:ext cx="35968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clients.parallelStream()</a:t>
            </a:r>
            <a:endParaRPr lang="en-US" sz="621" dirty="0"/>
          </a:p>
        </p:txBody>
      </p:sp>
      <p:sp>
        <p:nvSpPr>
          <p:cNvPr id="47" name="Text 44"/>
          <p:cNvSpPr/>
          <p:nvPr/>
        </p:nvSpPr>
        <p:spPr>
          <a:xfrm>
            <a:off x="4889897" y="3886200"/>
            <a:ext cx="35968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.</a:t>
            </a:r>
            <a:r>
              <a:rPr lang="en-US" sz="584" b="1" dirty="0">
                <a:solidFill>
                  <a:srgbClr val="FBBF24"/>
                </a:solidFill>
              </a:rPr>
              <a:t>filter</a:t>
            </a:r>
            <a:r>
              <a:rPr lang="en-US" sz="621" dirty="0">
                <a:solidFill>
                  <a:srgbClr val="E0E7FF"/>
                </a:solidFill>
              </a:rPr>
              <a:t>(c →</a:t>
            </a:r>
            <a:endParaRPr lang="en-US" sz="621" dirty="0"/>
          </a:p>
        </p:txBody>
      </p:sp>
      <p:sp>
        <p:nvSpPr>
          <p:cNvPr id="48" name="Text 45"/>
          <p:cNvSpPr/>
          <p:nvPr/>
        </p:nvSpPr>
        <p:spPr>
          <a:xfrm>
            <a:off x="4889897" y="4036219"/>
            <a:ext cx="35968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c.CA &gt; 500000)</a:t>
            </a:r>
            <a:endParaRPr lang="en-US" sz="621" dirty="0"/>
          </a:p>
        </p:txBody>
      </p:sp>
      <p:sp>
        <p:nvSpPr>
          <p:cNvPr id="49" name="Text 46"/>
          <p:cNvSpPr/>
          <p:nvPr/>
        </p:nvSpPr>
        <p:spPr>
          <a:xfrm>
            <a:off x="4889897" y="4186238"/>
            <a:ext cx="35968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.</a:t>
            </a:r>
            <a:r>
              <a:rPr lang="en-US" sz="584" b="1" dirty="0">
                <a:solidFill>
                  <a:srgbClr val="FBBF24"/>
                </a:solidFill>
              </a:rPr>
              <a:t>findAny</a:t>
            </a:r>
            <a:r>
              <a:rPr lang="en-US" sz="621" dirty="0">
                <a:solidFill>
                  <a:srgbClr val="E0E7FF"/>
                </a:solidFill>
              </a:rPr>
              <a:t>();</a:t>
            </a:r>
            <a:endParaRPr lang="en-US" sz="621" dirty="0"/>
          </a:p>
        </p:txBody>
      </p:sp>
      <p:sp>
        <p:nvSpPr>
          <p:cNvPr id="50" name="Shape 47"/>
          <p:cNvSpPr/>
          <p:nvPr/>
        </p:nvSpPr>
        <p:spPr>
          <a:xfrm>
            <a:off x="4804172" y="4507706"/>
            <a:ext cx="3768328" cy="578644"/>
          </a:xfrm>
          <a:prstGeom prst="rect">
            <a:avLst/>
          </a:prstGeom>
          <a:solidFill>
            <a:srgbClr val="22D3EE">
              <a:alpha val="8000"/>
            </a:srgbClr>
          </a:solidFill>
          <a:ln w="9144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1" name="Text 48"/>
          <p:cNvSpPr/>
          <p:nvPr/>
        </p:nvSpPr>
        <p:spPr>
          <a:xfrm>
            <a:off x="4875609" y="4579144"/>
            <a:ext cx="362545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22D3EE"/>
                </a:solidFill>
              </a:rPr>
              <a:t>Retourne</a:t>
            </a:r>
            <a:endParaRPr lang="en-US" sz="534" dirty="0"/>
          </a:p>
        </p:txBody>
      </p:sp>
      <p:sp>
        <p:nvSpPr>
          <p:cNvPr id="52" name="Text 49"/>
          <p:cNvSpPr/>
          <p:nvPr/>
        </p:nvSpPr>
        <p:spPr>
          <a:xfrm>
            <a:off x="4875609" y="4725591"/>
            <a:ext cx="362545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BBF24"/>
                </a:solidFill>
              </a:rPr>
              <a:t>Optional&lt;Client&gt;</a:t>
            </a:r>
            <a:endParaRPr lang="en-US" sz="584" dirty="0"/>
          </a:p>
        </p:txBody>
      </p:sp>
      <p:sp>
        <p:nvSpPr>
          <p:cNvPr id="53" name="Text 50"/>
          <p:cNvSpPr/>
          <p:nvPr/>
        </p:nvSpPr>
        <p:spPr>
          <a:xfrm>
            <a:off x="4875609" y="4882753"/>
            <a:ext cx="362545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>
                    <a:alpha val="90000"/>
                  </a:srgbClr>
                </a:solidFill>
              </a:rPr>
              <a:t>N'importe quel client avec CA &gt; 500k</a:t>
            </a:r>
            <a:endParaRPr lang="en-US" sz="56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222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FBBF24"/>
                </a:solidFill>
              </a:rPr>
              <a:t>&gt; Exercice 1 : Filtrage et Tri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428625" y="964406"/>
            <a:ext cx="82867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FB923C"/>
                </a:solidFill>
              </a:rPr>
              <a:t>📋 Énoncé du Problème</a:t>
            </a:r>
            <a:endParaRPr lang="en-US" sz="683" dirty="0"/>
          </a:p>
        </p:txBody>
      </p:sp>
      <p:sp>
        <p:nvSpPr>
          <p:cNvPr id="5" name="Shape 2"/>
          <p:cNvSpPr/>
          <p:nvPr/>
        </p:nvSpPr>
        <p:spPr>
          <a:xfrm>
            <a:off x="428625" y="1200150"/>
            <a:ext cx="8286750" cy="374321"/>
          </a:xfrm>
          <a:prstGeom prst="rect">
            <a:avLst/>
          </a:prstGeom>
          <a:solidFill>
            <a:srgbClr val="22D3EE">
              <a:alpha val="5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" name="Shape 3"/>
          <p:cNvSpPr/>
          <p:nvPr/>
        </p:nvSpPr>
        <p:spPr>
          <a:xfrm>
            <a:off x="428625" y="1200150"/>
            <a:ext cx="21431" cy="374321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Text 4"/>
          <p:cNvSpPr/>
          <p:nvPr/>
        </p:nvSpPr>
        <p:spPr>
          <a:xfrm>
            <a:off x="428625" y="1200150"/>
            <a:ext cx="8286750" cy="37432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E0E7FF"/>
                </a:solidFill>
              </a:rPr>
              <a:t>Trouver tous les clients résidant à </a:t>
            </a:r>
            <a:r>
              <a:rPr lang="en-US" sz="683" b="1" dirty="0">
                <a:solidFill>
                  <a:srgbClr val="FBBF24"/>
                </a:solidFill>
              </a:rPr>
              <a:t>"Fès"</a:t>
            </a:r>
            <a:r>
              <a:rPr lang="en-US" sz="727" dirty="0">
                <a:solidFill>
                  <a:srgbClr val="E0E7FF"/>
                </a:solidFill>
              </a:rPr>
              <a:t> et les trier par </a:t>
            </a:r>
            <a:r>
              <a:rPr lang="en-US" sz="683" b="1" dirty="0">
                <a:solidFill>
                  <a:srgbClr val="FBBF24"/>
                </a:solidFill>
              </a:rPr>
              <a:t>chiffre d'affaires décroissant</a:t>
            </a:r>
            <a:r>
              <a:rPr lang="en-US" sz="727" dirty="0">
                <a:solidFill>
                  <a:srgbClr val="E0E7FF"/>
                </a:solidFill>
              </a:rPr>
              <a:t>. Afficher le résultat dans une liste.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428625" y="1860221"/>
            <a:ext cx="82867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FB923C"/>
                </a:solidFill>
              </a:rPr>
              <a:t>💻 Solution (Pipeline Stream)</a:t>
            </a:r>
            <a:endParaRPr lang="en-US" sz="683" dirty="0"/>
          </a:p>
        </p:txBody>
      </p:sp>
      <p:sp>
        <p:nvSpPr>
          <p:cNvPr id="9" name="Shape 6"/>
          <p:cNvSpPr/>
          <p:nvPr/>
        </p:nvSpPr>
        <p:spPr>
          <a:xfrm>
            <a:off x="428625" y="2095965"/>
            <a:ext cx="8286750" cy="1554435"/>
          </a:xfrm>
          <a:prstGeom prst="rect">
            <a:avLst/>
          </a:prstGeom>
          <a:solidFill>
            <a:srgbClr val="1A1F3A">
              <a:alpha val="80000"/>
            </a:srgbClr>
          </a:solidFill>
          <a:ln w="9144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0" name="Text 7"/>
          <p:cNvSpPr/>
          <p:nvPr/>
        </p:nvSpPr>
        <p:spPr>
          <a:xfrm>
            <a:off x="535781" y="2203121"/>
            <a:ext cx="178594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621" dirty="0">
                <a:solidFill>
                  <a:srgbClr val="FB923C">
                    <a:alpha val="60000"/>
                  </a:srgbClr>
                </a:solidFill>
              </a:rPr>
              <a:t>1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785813" y="2212051"/>
            <a:ext cx="1544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FBBF24"/>
                </a:solidFill>
              </a:rPr>
              <a:t>List</a:t>
            </a:r>
            <a:endParaRPr lang="en-US" sz="584" dirty="0"/>
          </a:p>
        </p:txBody>
      </p:sp>
      <p:sp>
        <p:nvSpPr>
          <p:cNvPr id="12" name="Text 9"/>
          <p:cNvSpPr/>
          <p:nvPr/>
        </p:nvSpPr>
        <p:spPr>
          <a:xfrm>
            <a:off x="940212" y="2212051"/>
            <a:ext cx="81302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&lt;Client&gt; fesClients =</a:t>
            </a:r>
            <a:endParaRPr lang="en-US" sz="621" dirty="0"/>
          </a:p>
        </p:txBody>
      </p:sp>
      <p:sp>
        <p:nvSpPr>
          <p:cNvPr id="13" name="Text 10"/>
          <p:cNvSpPr/>
          <p:nvPr/>
        </p:nvSpPr>
        <p:spPr>
          <a:xfrm>
            <a:off x="535781" y="2368851"/>
            <a:ext cx="178594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621" dirty="0">
                <a:solidFill>
                  <a:srgbClr val="FB923C">
                    <a:alpha val="60000"/>
                  </a:srgbClr>
                </a:solidFill>
              </a:rPr>
              <a:t>2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785813" y="2377780"/>
            <a:ext cx="46568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ClientData.</a:t>
            </a:r>
            <a:endParaRPr lang="en-US" sz="621" dirty="0"/>
          </a:p>
        </p:txBody>
      </p:sp>
      <p:sp>
        <p:nvSpPr>
          <p:cNvPr id="15" name="Text 12"/>
          <p:cNvSpPr/>
          <p:nvPr/>
        </p:nvSpPr>
        <p:spPr>
          <a:xfrm>
            <a:off x="1251496" y="2377780"/>
            <a:ext cx="43585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22D3EE"/>
                </a:solidFill>
              </a:rPr>
              <a:t>getClients</a:t>
            </a:r>
            <a:endParaRPr lang="en-US" sz="584" dirty="0"/>
          </a:p>
        </p:txBody>
      </p:sp>
      <p:sp>
        <p:nvSpPr>
          <p:cNvPr id="16" name="Text 13"/>
          <p:cNvSpPr/>
          <p:nvPr/>
        </p:nvSpPr>
        <p:spPr>
          <a:xfrm>
            <a:off x="1687348" y="2377780"/>
            <a:ext cx="7442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().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1761772" y="2377780"/>
            <a:ext cx="30366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22D3EE"/>
                </a:solidFill>
              </a:rPr>
              <a:t>stream</a:t>
            </a:r>
            <a:endParaRPr lang="en-US" sz="584" dirty="0"/>
          </a:p>
        </p:txBody>
      </p:sp>
      <p:sp>
        <p:nvSpPr>
          <p:cNvPr id="18" name="Text 15"/>
          <p:cNvSpPr/>
          <p:nvPr/>
        </p:nvSpPr>
        <p:spPr>
          <a:xfrm>
            <a:off x="2065437" y="2377780"/>
            <a:ext cx="514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()</a:t>
            </a:r>
            <a:endParaRPr lang="en-US" sz="621" dirty="0"/>
          </a:p>
        </p:txBody>
      </p:sp>
      <p:sp>
        <p:nvSpPr>
          <p:cNvPr id="19" name="Text 16"/>
          <p:cNvSpPr/>
          <p:nvPr/>
        </p:nvSpPr>
        <p:spPr>
          <a:xfrm>
            <a:off x="535781" y="2534580"/>
            <a:ext cx="178594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621" dirty="0">
                <a:solidFill>
                  <a:srgbClr val="FB923C">
                    <a:alpha val="60000"/>
                  </a:srgbClr>
                </a:solidFill>
              </a:rPr>
              <a:t>3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785813" y="2543510"/>
            <a:ext cx="4529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.</a:t>
            </a:r>
            <a:endParaRPr lang="en-US" sz="621" dirty="0"/>
          </a:p>
        </p:txBody>
      </p:sp>
      <p:sp>
        <p:nvSpPr>
          <p:cNvPr id="21" name="Text 18"/>
          <p:cNvSpPr/>
          <p:nvPr/>
        </p:nvSpPr>
        <p:spPr>
          <a:xfrm>
            <a:off x="831103" y="2543510"/>
            <a:ext cx="2122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22D3EE"/>
                </a:solidFill>
              </a:rPr>
              <a:t>filter</a:t>
            </a:r>
            <a:endParaRPr lang="en-US" sz="584" dirty="0"/>
          </a:p>
        </p:txBody>
      </p:sp>
      <p:sp>
        <p:nvSpPr>
          <p:cNvPr id="22" name="Text 19"/>
          <p:cNvSpPr/>
          <p:nvPr/>
        </p:nvSpPr>
        <p:spPr>
          <a:xfrm>
            <a:off x="1043378" y="2543510"/>
            <a:ext cx="19717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(c →</a:t>
            </a: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1240557" y="2543510"/>
            <a:ext cx="20387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FB923C"/>
                </a:solidFill>
              </a:rPr>
              <a:t>"Fès"</a:t>
            </a:r>
            <a:endParaRPr lang="en-US" sz="621" dirty="0"/>
          </a:p>
        </p:txBody>
      </p:sp>
      <p:sp>
        <p:nvSpPr>
          <p:cNvPr id="24" name="Text 21"/>
          <p:cNvSpPr/>
          <p:nvPr/>
        </p:nvSpPr>
        <p:spPr>
          <a:xfrm>
            <a:off x="1444433" y="2543510"/>
            <a:ext cx="93304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.equals(c.getAdresse()))</a:t>
            </a:r>
            <a:endParaRPr lang="en-US" sz="621" dirty="0"/>
          </a:p>
        </p:txBody>
      </p:sp>
      <p:sp>
        <p:nvSpPr>
          <p:cNvPr id="25" name="Text 22"/>
          <p:cNvSpPr/>
          <p:nvPr/>
        </p:nvSpPr>
        <p:spPr>
          <a:xfrm>
            <a:off x="535781" y="2700310"/>
            <a:ext cx="178594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621" dirty="0">
                <a:solidFill>
                  <a:srgbClr val="FB923C">
                    <a:alpha val="60000"/>
                  </a:srgbClr>
                </a:solidFill>
              </a:rPr>
              <a:t>4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785813" y="2709239"/>
            <a:ext cx="4529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.</a:t>
            </a:r>
            <a:endParaRPr lang="en-US" sz="621" dirty="0"/>
          </a:p>
        </p:txBody>
      </p:sp>
      <p:sp>
        <p:nvSpPr>
          <p:cNvPr id="27" name="Text 24"/>
          <p:cNvSpPr/>
          <p:nvPr/>
        </p:nvSpPr>
        <p:spPr>
          <a:xfrm>
            <a:off x="831103" y="2709239"/>
            <a:ext cx="27673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22D3EE"/>
                </a:solidFill>
              </a:rPr>
              <a:t>sorted</a:t>
            </a:r>
            <a:endParaRPr lang="en-US" sz="584" dirty="0"/>
          </a:p>
        </p:txBody>
      </p:sp>
      <p:sp>
        <p:nvSpPr>
          <p:cNvPr id="28" name="Text 25"/>
          <p:cNvSpPr/>
          <p:nvPr/>
        </p:nvSpPr>
        <p:spPr>
          <a:xfrm>
            <a:off x="1107839" y="2709239"/>
            <a:ext cx="2572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(</a:t>
            </a:r>
            <a:endParaRPr lang="en-US" sz="621" dirty="0"/>
          </a:p>
        </p:txBody>
      </p:sp>
      <p:sp>
        <p:nvSpPr>
          <p:cNvPr id="29" name="Text 26"/>
          <p:cNvSpPr/>
          <p:nvPr/>
        </p:nvSpPr>
        <p:spPr>
          <a:xfrm>
            <a:off x="535781" y="2866039"/>
            <a:ext cx="178594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621" dirty="0">
                <a:solidFill>
                  <a:srgbClr val="FB923C">
                    <a:alpha val="60000"/>
                  </a:srgbClr>
                </a:solidFill>
              </a:rPr>
              <a:t>5</a:t>
            </a:r>
            <a:endParaRPr lang="en-US" sz="621" dirty="0"/>
          </a:p>
        </p:txBody>
      </p:sp>
      <p:sp>
        <p:nvSpPr>
          <p:cNvPr id="30" name="Text 27"/>
          <p:cNvSpPr/>
          <p:nvPr/>
        </p:nvSpPr>
        <p:spPr>
          <a:xfrm>
            <a:off x="785813" y="2874969"/>
            <a:ext cx="51856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Comparator.</a:t>
            </a:r>
            <a:endParaRPr lang="en-US" sz="621" dirty="0"/>
          </a:p>
        </p:txBody>
      </p:sp>
      <p:sp>
        <p:nvSpPr>
          <p:cNvPr id="31" name="Text 28"/>
          <p:cNvSpPr/>
          <p:nvPr/>
        </p:nvSpPr>
        <p:spPr>
          <a:xfrm>
            <a:off x="1304376" y="2874969"/>
            <a:ext cx="46300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22D3EE"/>
                </a:solidFill>
              </a:rPr>
              <a:t>comparing</a:t>
            </a:r>
            <a:endParaRPr lang="en-US" sz="584" dirty="0"/>
          </a:p>
        </p:txBody>
      </p:sp>
      <p:sp>
        <p:nvSpPr>
          <p:cNvPr id="32" name="Text 29"/>
          <p:cNvSpPr/>
          <p:nvPr/>
        </p:nvSpPr>
        <p:spPr>
          <a:xfrm>
            <a:off x="1767380" y="2874969"/>
            <a:ext cx="99638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(Client::getChiffreAffaire)</a:t>
            </a:r>
            <a:endParaRPr lang="en-US" sz="621" dirty="0"/>
          </a:p>
        </p:txBody>
      </p:sp>
      <p:sp>
        <p:nvSpPr>
          <p:cNvPr id="33" name="Text 30"/>
          <p:cNvSpPr/>
          <p:nvPr/>
        </p:nvSpPr>
        <p:spPr>
          <a:xfrm>
            <a:off x="535781" y="3031768"/>
            <a:ext cx="178594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621" dirty="0">
                <a:solidFill>
                  <a:srgbClr val="FB923C">
                    <a:alpha val="60000"/>
                  </a:srgbClr>
                </a:solidFill>
              </a:rPr>
              <a:t>6</a:t>
            </a:r>
            <a:endParaRPr lang="en-US" sz="621" dirty="0"/>
          </a:p>
        </p:txBody>
      </p:sp>
      <p:sp>
        <p:nvSpPr>
          <p:cNvPr id="34" name="Text 31"/>
          <p:cNvSpPr/>
          <p:nvPr/>
        </p:nvSpPr>
        <p:spPr>
          <a:xfrm>
            <a:off x="785813" y="3040698"/>
            <a:ext cx="4529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.</a:t>
            </a:r>
            <a:endParaRPr lang="en-US" sz="621" dirty="0"/>
          </a:p>
        </p:txBody>
      </p:sp>
      <p:sp>
        <p:nvSpPr>
          <p:cNvPr id="35" name="Text 32"/>
          <p:cNvSpPr/>
          <p:nvPr/>
        </p:nvSpPr>
        <p:spPr>
          <a:xfrm>
            <a:off x="831103" y="3040698"/>
            <a:ext cx="37206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22D3EE"/>
                </a:solidFill>
              </a:rPr>
              <a:t>reversed</a:t>
            </a:r>
            <a:endParaRPr lang="en-US" sz="584" dirty="0"/>
          </a:p>
        </p:txBody>
      </p:sp>
      <p:sp>
        <p:nvSpPr>
          <p:cNvPr id="36" name="Text 33"/>
          <p:cNvSpPr/>
          <p:nvPr/>
        </p:nvSpPr>
        <p:spPr>
          <a:xfrm>
            <a:off x="1203164" y="3040698"/>
            <a:ext cx="514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()</a:t>
            </a:r>
            <a:endParaRPr lang="en-US" sz="621" dirty="0"/>
          </a:p>
        </p:txBody>
      </p:sp>
      <p:sp>
        <p:nvSpPr>
          <p:cNvPr id="37" name="Text 34"/>
          <p:cNvSpPr/>
          <p:nvPr/>
        </p:nvSpPr>
        <p:spPr>
          <a:xfrm>
            <a:off x="535781" y="3197498"/>
            <a:ext cx="178594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621" dirty="0">
                <a:solidFill>
                  <a:srgbClr val="FB923C">
                    <a:alpha val="60000"/>
                  </a:srgbClr>
                </a:solidFill>
              </a:rPr>
              <a:t>7</a:t>
            </a:r>
            <a:endParaRPr lang="en-US" sz="621" dirty="0"/>
          </a:p>
        </p:txBody>
      </p:sp>
      <p:sp>
        <p:nvSpPr>
          <p:cNvPr id="38" name="Text 35"/>
          <p:cNvSpPr/>
          <p:nvPr/>
        </p:nvSpPr>
        <p:spPr>
          <a:xfrm>
            <a:off x="785813" y="3206428"/>
            <a:ext cx="480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)</a:t>
            </a:r>
            <a:endParaRPr lang="en-US" sz="621" dirty="0"/>
          </a:p>
        </p:txBody>
      </p:sp>
      <p:sp>
        <p:nvSpPr>
          <p:cNvPr id="39" name="Text 36"/>
          <p:cNvSpPr/>
          <p:nvPr/>
        </p:nvSpPr>
        <p:spPr>
          <a:xfrm>
            <a:off x="535781" y="3363227"/>
            <a:ext cx="178594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621" dirty="0">
                <a:solidFill>
                  <a:srgbClr val="FB923C">
                    <a:alpha val="60000"/>
                  </a:srgbClr>
                </a:solidFill>
              </a:rPr>
              <a:t>8</a:t>
            </a:r>
            <a:endParaRPr lang="en-US" sz="621" dirty="0"/>
          </a:p>
        </p:txBody>
      </p:sp>
      <p:sp>
        <p:nvSpPr>
          <p:cNvPr id="40" name="Text 37"/>
          <p:cNvSpPr/>
          <p:nvPr/>
        </p:nvSpPr>
        <p:spPr>
          <a:xfrm>
            <a:off x="785813" y="3372157"/>
            <a:ext cx="4529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.</a:t>
            </a:r>
            <a:endParaRPr lang="en-US" sz="621" dirty="0"/>
          </a:p>
        </p:txBody>
      </p:sp>
      <p:sp>
        <p:nvSpPr>
          <p:cNvPr id="41" name="Text 38"/>
          <p:cNvSpPr/>
          <p:nvPr/>
        </p:nvSpPr>
        <p:spPr>
          <a:xfrm>
            <a:off x="831103" y="3372157"/>
            <a:ext cx="28136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22D3EE"/>
                </a:solidFill>
              </a:rPr>
              <a:t>collect</a:t>
            </a:r>
            <a:endParaRPr lang="en-US" sz="584" dirty="0"/>
          </a:p>
        </p:txBody>
      </p:sp>
      <p:sp>
        <p:nvSpPr>
          <p:cNvPr id="42" name="Text 39"/>
          <p:cNvSpPr/>
          <p:nvPr/>
        </p:nvSpPr>
        <p:spPr>
          <a:xfrm>
            <a:off x="1112472" y="3372157"/>
            <a:ext cx="44776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(Collectors.</a:t>
            </a:r>
            <a:endParaRPr lang="en-US" sz="621" dirty="0"/>
          </a:p>
        </p:txBody>
      </p:sp>
      <p:sp>
        <p:nvSpPr>
          <p:cNvPr id="43" name="Text 40"/>
          <p:cNvSpPr/>
          <p:nvPr/>
        </p:nvSpPr>
        <p:spPr>
          <a:xfrm>
            <a:off x="1560240" y="3372157"/>
            <a:ext cx="24467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22D3EE"/>
                </a:solidFill>
              </a:rPr>
              <a:t>toList</a:t>
            </a:r>
            <a:endParaRPr lang="en-US" sz="584" dirty="0"/>
          </a:p>
        </p:txBody>
      </p:sp>
      <p:sp>
        <p:nvSpPr>
          <p:cNvPr id="44" name="Text 41"/>
          <p:cNvSpPr/>
          <p:nvPr/>
        </p:nvSpPr>
        <p:spPr>
          <a:xfrm>
            <a:off x="1804913" y="3372157"/>
            <a:ext cx="10015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());</a:t>
            </a:r>
            <a:endParaRPr lang="en-US" sz="621" dirty="0"/>
          </a:p>
        </p:txBody>
      </p:sp>
      <p:sp>
        <p:nvSpPr>
          <p:cNvPr id="45" name="Text 42"/>
          <p:cNvSpPr/>
          <p:nvPr/>
        </p:nvSpPr>
        <p:spPr>
          <a:xfrm>
            <a:off x="428625" y="3886144"/>
            <a:ext cx="40719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FB923C"/>
                </a:solidFill>
              </a:rPr>
              <a:t>✅ Résultat Attendu</a:t>
            </a:r>
            <a:endParaRPr lang="en-US" sz="683" dirty="0"/>
          </a:p>
        </p:txBody>
      </p:sp>
      <p:sp>
        <p:nvSpPr>
          <p:cNvPr id="46" name="Shape 43"/>
          <p:cNvSpPr/>
          <p:nvPr/>
        </p:nvSpPr>
        <p:spPr>
          <a:xfrm>
            <a:off x="428625" y="4121888"/>
            <a:ext cx="857976" cy="250031"/>
          </a:xfrm>
          <a:prstGeom prst="rect">
            <a:avLst/>
          </a:prstGeom>
          <a:solidFill>
            <a:srgbClr val="22D3EE">
              <a:alpha val="1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7" name="Shape 44"/>
          <p:cNvSpPr/>
          <p:nvPr/>
        </p:nvSpPr>
        <p:spPr>
          <a:xfrm>
            <a:off x="428625" y="4357632"/>
            <a:ext cx="857976" cy="1428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8" name="Text 45"/>
          <p:cNvSpPr/>
          <p:nvPr/>
        </p:nvSpPr>
        <p:spPr>
          <a:xfrm>
            <a:off x="428625" y="4121888"/>
            <a:ext cx="857976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22D3EE"/>
                </a:solidFill>
              </a:rPr>
              <a:t>ID</a:t>
            </a:r>
            <a:endParaRPr lang="en-US" sz="584" dirty="0"/>
          </a:p>
        </p:txBody>
      </p:sp>
      <p:sp>
        <p:nvSpPr>
          <p:cNvPr id="49" name="Shape 46"/>
          <p:cNvSpPr/>
          <p:nvPr/>
        </p:nvSpPr>
        <p:spPr>
          <a:xfrm>
            <a:off x="1286601" y="4121888"/>
            <a:ext cx="1565877" cy="250031"/>
          </a:xfrm>
          <a:prstGeom prst="rect">
            <a:avLst/>
          </a:prstGeom>
          <a:solidFill>
            <a:srgbClr val="22D3EE">
              <a:alpha val="1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0" name="Shape 47"/>
          <p:cNvSpPr/>
          <p:nvPr/>
        </p:nvSpPr>
        <p:spPr>
          <a:xfrm>
            <a:off x="1286601" y="4357632"/>
            <a:ext cx="1565877" cy="1428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1" name="Text 48"/>
          <p:cNvSpPr/>
          <p:nvPr/>
        </p:nvSpPr>
        <p:spPr>
          <a:xfrm>
            <a:off x="1286601" y="4121888"/>
            <a:ext cx="1565877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22D3EE"/>
                </a:solidFill>
              </a:rPr>
              <a:t>Nom</a:t>
            </a:r>
            <a:endParaRPr lang="en-US" sz="584" dirty="0"/>
          </a:p>
        </p:txBody>
      </p:sp>
      <p:sp>
        <p:nvSpPr>
          <p:cNvPr id="52" name="Shape 49"/>
          <p:cNvSpPr/>
          <p:nvPr/>
        </p:nvSpPr>
        <p:spPr>
          <a:xfrm>
            <a:off x="2852477" y="4121888"/>
            <a:ext cx="1648085" cy="250031"/>
          </a:xfrm>
          <a:prstGeom prst="rect">
            <a:avLst/>
          </a:prstGeom>
          <a:solidFill>
            <a:srgbClr val="22D3EE">
              <a:alpha val="1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3" name="Shape 50"/>
          <p:cNvSpPr/>
          <p:nvPr/>
        </p:nvSpPr>
        <p:spPr>
          <a:xfrm>
            <a:off x="2852477" y="4357632"/>
            <a:ext cx="1648085" cy="1428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4" name="Text 51"/>
          <p:cNvSpPr/>
          <p:nvPr/>
        </p:nvSpPr>
        <p:spPr>
          <a:xfrm>
            <a:off x="2852477" y="4121888"/>
            <a:ext cx="1648085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22D3EE"/>
                </a:solidFill>
              </a:rPr>
              <a:t>CA</a:t>
            </a:r>
            <a:endParaRPr lang="en-US" sz="584" dirty="0"/>
          </a:p>
        </p:txBody>
      </p:sp>
      <p:sp>
        <p:nvSpPr>
          <p:cNvPr id="55" name="Text 52"/>
          <p:cNvSpPr/>
          <p:nvPr/>
        </p:nvSpPr>
        <p:spPr>
          <a:xfrm>
            <a:off x="428625" y="4364775"/>
            <a:ext cx="857976" cy="24645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108</a:t>
            </a:r>
            <a:endParaRPr lang="en-US" sz="621" dirty="0"/>
          </a:p>
        </p:txBody>
      </p:sp>
      <p:sp>
        <p:nvSpPr>
          <p:cNvPr id="56" name="Text 53"/>
          <p:cNvSpPr/>
          <p:nvPr/>
        </p:nvSpPr>
        <p:spPr>
          <a:xfrm>
            <a:off x="1286601" y="4360662"/>
            <a:ext cx="1565877" cy="25468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Ahmadi</a:t>
            </a:r>
            <a:endParaRPr lang="en-US" sz="621" dirty="0"/>
          </a:p>
        </p:txBody>
      </p:sp>
      <p:sp>
        <p:nvSpPr>
          <p:cNvPr id="57" name="Text 54"/>
          <p:cNvSpPr/>
          <p:nvPr/>
        </p:nvSpPr>
        <p:spPr>
          <a:xfrm>
            <a:off x="2852477" y="4364775"/>
            <a:ext cx="1648085" cy="24645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E0E7FF"/>
                </a:solidFill>
              </a:rPr>
              <a:t>600 000 €</a:t>
            </a:r>
            <a:endParaRPr lang="en-US" sz="584" dirty="0"/>
          </a:p>
        </p:txBody>
      </p:sp>
      <p:sp>
        <p:nvSpPr>
          <p:cNvPr id="58" name="Shape 55"/>
          <p:cNvSpPr/>
          <p:nvPr/>
        </p:nvSpPr>
        <p:spPr>
          <a:xfrm>
            <a:off x="428625" y="4611235"/>
            <a:ext cx="4071938" cy="250031"/>
          </a:xfrm>
          <a:prstGeom prst="rect">
            <a:avLst/>
          </a:prstGeom>
          <a:solidFill>
            <a:srgbClr val="22D3EE">
              <a:alpha val="3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9" name="Text 56"/>
          <p:cNvSpPr/>
          <p:nvPr/>
        </p:nvSpPr>
        <p:spPr>
          <a:xfrm>
            <a:off x="428625" y="4611235"/>
            <a:ext cx="857976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102</a:t>
            </a:r>
            <a:endParaRPr lang="en-US" sz="621" dirty="0"/>
          </a:p>
        </p:txBody>
      </p:sp>
      <p:sp>
        <p:nvSpPr>
          <p:cNvPr id="60" name="Text 57"/>
          <p:cNvSpPr/>
          <p:nvPr/>
        </p:nvSpPr>
        <p:spPr>
          <a:xfrm>
            <a:off x="1286601" y="4611235"/>
            <a:ext cx="1565877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Alaoui</a:t>
            </a:r>
            <a:endParaRPr lang="en-US" sz="621" dirty="0"/>
          </a:p>
        </p:txBody>
      </p:sp>
      <p:sp>
        <p:nvSpPr>
          <p:cNvPr id="61" name="Text 58"/>
          <p:cNvSpPr/>
          <p:nvPr/>
        </p:nvSpPr>
        <p:spPr>
          <a:xfrm>
            <a:off x="2852477" y="4611235"/>
            <a:ext cx="1648085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E0E7FF"/>
                </a:solidFill>
              </a:rPr>
              <a:t>550 000 €</a:t>
            </a:r>
            <a:endParaRPr lang="en-US" sz="584" dirty="0"/>
          </a:p>
        </p:txBody>
      </p:sp>
      <p:sp>
        <p:nvSpPr>
          <p:cNvPr id="62" name="Text 59"/>
          <p:cNvSpPr/>
          <p:nvPr/>
        </p:nvSpPr>
        <p:spPr>
          <a:xfrm>
            <a:off x="428625" y="4861266"/>
            <a:ext cx="857976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105</a:t>
            </a:r>
            <a:endParaRPr lang="en-US" sz="621" dirty="0"/>
          </a:p>
        </p:txBody>
      </p:sp>
      <p:sp>
        <p:nvSpPr>
          <p:cNvPr id="63" name="Text 60"/>
          <p:cNvSpPr/>
          <p:nvPr/>
        </p:nvSpPr>
        <p:spPr>
          <a:xfrm>
            <a:off x="1286601" y="4861266"/>
            <a:ext cx="1565877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Boutaleb</a:t>
            </a:r>
            <a:endParaRPr lang="en-US" sz="621" dirty="0"/>
          </a:p>
        </p:txBody>
      </p:sp>
      <p:sp>
        <p:nvSpPr>
          <p:cNvPr id="64" name="Text 61"/>
          <p:cNvSpPr/>
          <p:nvPr/>
        </p:nvSpPr>
        <p:spPr>
          <a:xfrm>
            <a:off x="2852477" y="4861266"/>
            <a:ext cx="1648085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E0E7FF"/>
                </a:solidFill>
              </a:rPr>
              <a:t>320 000 €</a:t>
            </a:r>
            <a:endParaRPr lang="en-US" sz="584" dirty="0"/>
          </a:p>
        </p:txBody>
      </p:sp>
      <p:sp>
        <p:nvSpPr>
          <p:cNvPr id="65" name="Shape 62"/>
          <p:cNvSpPr/>
          <p:nvPr/>
        </p:nvSpPr>
        <p:spPr>
          <a:xfrm>
            <a:off x="428625" y="5111297"/>
            <a:ext cx="4071938" cy="250031"/>
          </a:xfrm>
          <a:prstGeom prst="rect">
            <a:avLst/>
          </a:prstGeom>
          <a:solidFill>
            <a:srgbClr val="22D3EE">
              <a:alpha val="3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6" name="Text 63"/>
          <p:cNvSpPr/>
          <p:nvPr/>
        </p:nvSpPr>
        <p:spPr>
          <a:xfrm>
            <a:off x="428625" y="5111297"/>
            <a:ext cx="857976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111</a:t>
            </a:r>
            <a:endParaRPr lang="en-US" sz="621" dirty="0"/>
          </a:p>
        </p:txBody>
      </p:sp>
      <p:sp>
        <p:nvSpPr>
          <p:cNvPr id="67" name="Text 64"/>
          <p:cNvSpPr/>
          <p:nvPr/>
        </p:nvSpPr>
        <p:spPr>
          <a:xfrm>
            <a:off x="1286601" y="5111297"/>
            <a:ext cx="1565877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Kabbaj</a:t>
            </a:r>
            <a:endParaRPr lang="en-US" sz="621" dirty="0"/>
          </a:p>
        </p:txBody>
      </p:sp>
      <p:sp>
        <p:nvSpPr>
          <p:cNvPr id="68" name="Text 65"/>
          <p:cNvSpPr/>
          <p:nvPr/>
        </p:nvSpPr>
        <p:spPr>
          <a:xfrm>
            <a:off x="2852477" y="5111297"/>
            <a:ext cx="1648085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E0E7FF"/>
                </a:solidFill>
              </a:rPr>
              <a:t>550 000 €</a:t>
            </a:r>
            <a:endParaRPr lang="en-US" sz="584" dirty="0"/>
          </a:p>
        </p:txBody>
      </p:sp>
      <p:sp>
        <p:nvSpPr>
          <p:cNvPr id="69" name="Text 66"/>
          <p:cNvSpPr/>
          <p:nvPr/>
        </p:nvSpPr>
        <p:spPr>
          <a:xfrm>
            <a:off x="4643438" y="3886144"/>
            <a:ext cx="40719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FB923C"/>
                </a:solidFill>
              </a:rPr>
              <a:t>🔍 Explication de la Solution</a:t>
            </a:r>
            <a:endParaRPr lang="en-US" sz="683" dirty="0"/>
          </a:p>
        </p:txBody>
      </p:sp>
      <p:sp>
        <p:nvSpPr>
          <p:cNvPr id="70" name="Shape 67"/>
          <p:cNvSpPr/>
          <p:nvPr/>
        </p:nvSpPr>
        <p:spPr>
          <a:xfrm>
            <a:off x="4643438" y="4121888"/>
            <a:ext cx="4071938" cy="450056"/>
          </a:xfrm>
          <a:prstGeom prst="rect">
            <a:avLst/>
          </a:prstGeom>
          <a:solidFill>
            <a:srgbClr val="FBBF24">
              <a:alpha val="5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1" name="Shape 68"/>
          <p:cNvSpPr/>
          <p:nvPr/>
        </p:nvSpPr>
        <p:spPr>
          <a:xfrm>
            <a:off x="4643438" y="4121888"/>
            <a:ext cx="21431" cy="450056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2" name="Text 69"/>
          <p:cNvSpPr/>
          <p:nvPr/>
        </p:nvSpPr>
        <p:spPr>
          <a:xfrm>
            <a:off x="4729163" y="4207613"/>
            <a:ext cx="390048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BBF24"/>
                </a:solidFill>
              </a:rPr>
              <a:t>Étape 1 : filter()</a:t>
            </a:r>
            <a:endParaRPr lang="en-US" sz="534" dirty="0"/>
          </a:p>
        </p:txBody>
      </p:sp>
      <p:sp>
        <p:nvSpPr>
          <p:cNvPr id="73" name="Text 70"/>
          <p:cNvSpPr/>
          <p:nvPr/>
        </p:nvSpPr>
        <p:spPr>
          <a:xfrm>
            <a:off x="4729163" y="4368347"/>
            <a:ext cx="390048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Sélectionne uniquement les clients dont l'adresse est </a:t>
            </a:r>
            <a:r>
              <a:rPr lang="en-US" sz="534" b="1" dirty="0">
                <a:solidFill>
                  <a:srgbClr val="FBBF24"/>
                </a:solidFill>
              </a:rPr>
              <a:t>"Fès"</a:t>
            </a:r>
            <a:r>
              <a:rPr lang="en-US" sz="568" dirty="0">
                <a:solidFill>
                  <a:srgbClr val="E0E7FF"/>
                </a:solidFill>
              </a:rPr>
              <a:t>. Les autres clients sont ignorés.</a:t>
            </a:r>
            <a:endParaRPr lang="en-US" sz="568" dirty="0"/>
          </a:p>
        </p:txBody>
      </p:sp>
      <p:sp>
        <p:nvSpPr>
          <p:cNvPr id="74" name="Shape 71"/>
          <p:cNvSpPr/>
          <p:nvPr/>
        </p:nvSpPr>
        <p:spPr>
          <a:xfrm>
            <a:off x="4643438" y="4643382"/>
            <a:ext cx="4071938" cy="567928"/>
          </a:xfrm>
          <a:prstGeom prst="rect">
            <a:avLst/>
          </a:prstGeom>
          <a:solidFill>
            <a:srgbClr val="FBBF24">
              <a:alpha val="5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5" name="Shape 72"/>
          <p:cNvSpPr/>
          <p:nvPr/>
        </p:nvSpPr>
        <p:spPr>
          <a:xfrm>
            <a:off x="4643438" y="4643382"/>
            <a:ext cx="21431" cy="56792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6" name="Text 73"/>
          <p:cNvSpPr/>
          <p:nvPr/>
        </p:nvSpPr>
        <p:spPr>
          <a:xfrm>
            <a:off x="4729163" y="4729107"/>
            <a:ext cx="390048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BBF24"/>
                </a:solidFill>
              </a:rPr>
              <a:t>Étape 2 : sorted()</a:t>
            </a:r>
            <a:endParaRPr lang="en-US" sz="534" dirty="0"/>
          </a:p>
        </p:txBody>
      </p:sp>
      <p:sp>
        <p:nvSpPr>
          <p:cNvPr id="77" name="Text 74"/>
          <p:cNvSpPr/>
          <p:nvPr/>
        </p:nvSpPr>
        <p:spPr>
          <a:xfrm>
            <a:off x="4729163" y="4889841"/>
            <a:ext cx="390048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Trie les clients de Fès par chiffre d'affaires en ordre </a:t>
            </a:r>
            <a:r>
              <a:rPr lang="en-US" sz="534" b="1" dirty="0">
                <a:solidFill>
                  <a:srgbClr val="FBBF24"/>
                </a:solidFill>
              </a:rPr>
              <a:t>décroissant</a:t>
            </a:r>
            <a:r>
              <a:rPr lang="en-US" sz="568" dirty="0">
                <a:solidFill>
                  <a:srgbClr val="E0E7FF"/>
                </a:solidFill>
              </a:rPr>
              <a:t> (reversed()). Le client avec le CA le plus élevé apparaît en premier.</a:t>
            </a:r>
            <a:endParaRPr lang="en-US" sz="568" dirty="0"/>
          </a:p>
        </p:txBody>
      </p:sp>
      <p:sp>
        <p:nvSpPr>
          <p:cNvPr id="78" name="Shape 75"/>
          <p:cNvSpPr/>
          <p:nvPr/>
        </p:nvSpPr>
        <p:spPr>
          <a:xfrm>
            <a:off x="4643438" y="5282747"/>
            <a:ext cx="4071938" cy="567928"/>
          </a:xfrm>
          <a:prstGeom prst="rect">
            <a:avLst/>
          </a:prstGeom>
          <a:solidFill>
            <a:srgbClr val="FBBF24">
              <a:alpha val="5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9" name="Shape 76"/>
          <p:cNvSpPr/>
          <p:nvPr/>
        </p:nvSpPr>
        <p:spPr>
          <a:xfrm>
            <a:off x="4643438" y="5282747"/>
            <a:ext cx="21431" cy="56792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80" name="Text 77"/>
          <p:cNvSpPr/>
          <p:nvPr/>
        </p:nvSpPr>
        <p:spPr>
          <a:xfrm>
            <a:off x="4729163" y="5368472"/>
            <a:ext cx="390048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BBF24"/>
                </a:solidFill>
              </a:rPr>
              <a:t>Étape 3 : collect()</a:t>
            </a:r>
            <a:endParaRPr lang="en-US" sz="534" dirty="0"/>
          </a:p>
        </p:txBody>
      </p:sp>
      <p:sp>
        <p:nvSpPr>
          <p:cNvPr id="81" name="Text 78"/>
          <p:cNvSpPr/>
          <p:nvPr/>
        </p:nvSpPr>
        <p:spPr>
          <a:xfrm>
            <a:off x="4729163" y="5529207"/>
            <a:ext cx="390048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Accumule le résultat final dans une </a:t>
            </a:r>
            <a:r>
              <a:rPr lang="en-US" sz="534" b="1" dirty="0">
                <a:solidFill>
                  <a:srgbClr val="FBBF24"/>
                </a:solidFill>
              </a:rPr>
              <a:t>List&lt;Client&gt;</a:t>
            </a:r>
            <a:r>
              <a:rPr lang="en-US" sz="568" dirty="0">
                <a:solidFill>
                  <a:srgbClr val="E0E7FF"/>
                </a:solidFill>
              </a:rPr>
              <a:t>. C'est l'opération terminale qui déclenche l'exécution du pipeline.</a:t>
            </a:r>
            <a:endParaRPr lang="en-US" sz="56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691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FBBF24"/>
                </a:solidFill>
              </a:rPr>
              <a:t>&gt; Exercice 2 : Regroupement et Agrégation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428625" y="964406"/>
            <a:ext cx="8286750" cy="728635"/>
          </a:xfrm>
          <a:prstGeom prst="rect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" name="Shape 2"/>
          <p:cNvSpPr/>
          <p:nvPr/>
        </p:nvSpPr>
        <p:spPr>
          <a:xfrm>
            <a:off x="428625" y="964406"/>
            <a:ext cx="21431" cy="72863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" name="Text 3"/>
          <p:cNvSpPr/>
          <p:nvPr/>
        </p:nvSpPr>
        <p:spPr>
          <a:xfrm>
            <a:off x="535781" y="1071563"/>
            <a:ext cx="8072438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22D3EE"/>
                </a:solidFill>
              </a:rPr>
              <a:t>Énoncé du Problème</a:t>
            </a:r>
            <a:endParaRPr lang="en-US" sz="584" dirty="0"/>
          </a:p>
        </p:txBody>
      </p:sp>
      <p:sp>
        <p:nvSpPr>
          <p:cNvPr id="7" name="Text 4"/>
          <p:cNvSpPr/>
          <p:nvPr/>
        </p:nvSpPr>
        <p:spPr>
          <a:xfrm>
            <a:off x="535781" y="1265867"/>
            <a:ext cx="80724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E0E7FF"/>
                </a:solidFill>
              </a:rPr>
              <a:t>Regrouper les clients par </a:t>
            </a:r>
            <a:r>
              <a:rPr lang="en-US" sz="683" b="1" dirty="0">
                <a:solidFill>
                  <a:srgbClr val="FBBF24"/>
                </a:solidFill>
              </a:rPr>
              <a:t>ville</a:t>
            </a:r>
            <a:r>
              <a:rPr lang="en-US" sz="727" dirty="0">
                <a:solidFill>
                  <a:srgbClr val="E0E7FF"/>
                </a:solidFill>
              </a:rPr>
              <a:t> et calculer le </a:t>
            </a:r>
            <a:r>
              <a:rPr lang="en-US" sz="683" b="1" dirty="0">
                <a:solidFill>
                  <a:srgbClr val="FBBF24"/>
                </a:solidFill>
              </a:rPr>
              <a:t>chiffre d'affaires moyen</a:t>
            </a:r>
            <a:r>
              <a:rPr lang="en-US" sz="727" dirty="0">
                <a:solidFill>
                  <a:srgbClr val="E0E7FF"/>
                </a:solidFill>
              </a:rPr>
              <a:t> pour chaque ville. Le résultat doit être une </a:t>
            </a:r>
            <a:r>
              <a:rPr lang="en-US" sz="683" b="1" dirty="0">
                <a:solidFill>
                  <a:srgbClr val="FBBF24"/>
                </a:solidFill>
              </a:rPr>
              <a:t>Map&lt;String, Double&gt;</a:t>
            </a:r>
            <a:r>
              <a:rPr lang="en-US" sz="727" dirty="0">
                <a:solidFill>
                  <a:srgbClr val="E0E7FF"/>
                </a:solidFill>
              </a:rPr>
              <a:t> où la clé est le nom de la ville et la valeur est le CA moyen.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428625" y="1871635"/>
            <a:ext cx="440314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kern="0" spc="1" dirty="0">
                <a:solidFill>
                  <a:srgbClr val="FB923C"/>
                </a:solidFill>
              </a:rPr>
              <a:t>Solution : Pipeline Stream</a:t>
            </a:r>
            <a:endParaRPr lang="en-US" sz="584" dirty="0"/>
          </a:p>
        </p:txBody>
      </p:sp>
      <p:sp>
        <p:nvSpPr>
          <p:cNvPr id="9" name="Shape 6"/>
          <p:cNvSpPr/>
          <p:nvPr/>
        </p:nvSpPr>
        <p:spPr>
          <a:xfrm>
            <a:off x="428625" y="2085947"/>
            <a:ext cx="4403145" cy="2383082"/>
          </a:xfrm>
          <a:prstGeom prst="rect">
            <a:avLst/>
          </a:prstGeom>
          <a:solidFill>
            <a:srgbClr val="1A1F3A">
              <a:alpha val="80000"/>
            </a:srgbClr>
          </a:solidFill>
          <a:ln w="9144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0" name="Text 7"/>
          <p:cNvSpPr/>
          <p:nvPr/>
        </p:nvSpPr>
        <p:spPr>
          <a:xfrm>
            <a:off x="535781" y="2193103"/>
            <a:ext cx="4188833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22D3EE"/>
                </a:solidFill>
              </a:rPr>
              <a:t>Map</a:t>
            </a:r>
            <a:r>
              <a:rPr lang="en-US" sz="621" dirty="0">
                <a:solidFill>
                  <a:srgbClr val="E0E7FF"/>
                </a:solidFill>
              </a:rPr>
              <a:t>&lt;</a:t>
            </a:r>
            <a:r>
              <a:rPr lang="en-US" sz="621" dirty="0">
                <a:solidFill>
                  <a:srgbClr val="22D3EE"/>
                </a:solidFill>
              </a:rPr>
              <a:t>String</a:t>
            </a:r>
            <a:r>
              <a:rPr lang="en-US" sz="621" dirty="0">
                <a:solidFill>
                  <a:srgbClr val="E0E7FF"/>
                </a:solidFill>
              </a:rPr>
              <a:t>, </a:t>
            </a:r>
            <a:r>
              <a:rPr lang="en-US" sz="621" dirty="0">
                <a:solidFill>
                  <a:srgbClr val="22D3EE"/>
                </a:solidFill>
              </a:rPr>
              <a:t>Double</a:t>
            </a:r>
            <a:r>
              <a:rPr lang="en-US" sz="621" dirty="0">
                <a:solidFill>
                  <a:srgbClr val="E0E7FF"/>
                </a:solidFill>
              </a:rPr>
              <a:t>&gt;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535781" y="2358833"/>
            <a:ext cx="4188833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caMoyenParVille =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535781" y="2524562"/>
            <a:ext cx="4188833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ClientData.</a:t>
            </a:r>
            <a:r>
              <a:rPr lang="en-US" sz="584" b="1" dirty="0">
                <a:solidFill>
                  <a:srgbClr val="22D3EE"/>
                </a:solidFill>
              </a:rPr>
              <a:t>getClients</a:t>
            </a:r>
            <a:r>
              <a:rPr lang="en-US" sz="621" dirty="0">
                <a:solidFill>
                  <a:srgbClr val="E0E7FF"/>
                </a:solidFill>
              </a:rPr>
              <a:t>()</a:t>
            </a:r>
            <a:endParaRPr lang="en-US" sz="621" dirty="0"/>
          </a:p>
        </p:txBody>
      </p:sp>
      <p:sp>
        <p:nvSpPr>
          <p:cNvPr id="13" name="Text 10"/>
          <p:cNvSpPr/>
          <p:nvPr/>
        </p:nvSpPr>
        <p:spPr>
          <a:xfrm>
            <a:off x="535781" y="2690292"/>
            <a:ext cx="4188833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.</a:t>
            </a:r>
            <a:r>
              <a:rPr lang="en-US" sz="584" b="1" dirty="0">
                <a:solidFill>
                  <a:srgbClr val="22D3EE"/>
                </a:solidFill>
              </a:rPr>
              <a:t>stream</a:t>
            </a:r>
            <a:r>
              <a:rPr lang="en-US" sz="621" dirty="0">
                <a:solidFill>
                  <a:srgbClr val="E0E7FF"/>
                </a:solidFill>
              </a:rPr>
              <a:t>()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535781" y="2856021"/>
            <a:ext cx="4188833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.</a:t>
            </a:r>
            <a:r>
              <a:rPr lang="en-US" sz="584" b="1" dirty="0">
                <a:solidFill>
                  <a:srgbClr val="22D3EE"/>
                </a:solidFill>
              </a:rPr>
              <a:t>collect</a:t>
            </a:r>
            <a:r>
              <a:rPr lang="en-US" sz="621" dirty="0">
                <a:solidFill>
                  <a:srgbClr val="E0E7FF"/>
                </a:solidFill>
              </a:rPr>
              <a:t>(</a:t>
            </a:r>
            <a:endParaRPr lang="en-US" sz="621" dirty="0"/>
          </a:p>
        </p:txBody>
      </p:sp>
      <p:sp>
        <p:nvSpPr>
          <p:cNvPr id="15" name="Text 12"/>
          <p:cNvSpPr/>
          <p:nvPr/>
        </p:nvSpPr>
        <p:spPr>
          <a:xfrm>
            <a:off x="535781" y="3021750"/>
            <a:ext cx="4188833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22D3EE"/>
                </a:solidFill>
              </a:rPr>
              <a:t>Collectors</a:t>
            </a:r>
            <a:r>
              <a:rPr lang="en-US" sz="621" dirty="0">
                <a:solidFill>
                  <a:srgbClr val="E0E7FF"/>
                </a:solidFill>
              </a:rPr>
              <a:t>.</a:t>
            </a:r>
            <a:r>
              <a:rPr lang="en-US" sz="584" b="1" dirty="0">
                <a:solidFill>
                  <a:srgbClr val="22D3EE"/>
                </a:solidFill>
              </a:rPr>
              <a:t>groupingBy</a:t>
            </a:r>
            <a:r>
              <a:rPr lang="en-US" sz="621" dirty="0">
                <a:solidFill>
                  <a:srgbClr val="E0E7FF"/>
                </a:solidFill>
              </a:rPr>
              <a:t>(</a:t>
            </a:r>
            <a:endParaRPr lang="en-US" sz="621" dirty="0"/>
          </a:p>
        </p:txBody>
      </p:sp>
      <p:sp>
        <p:nvSpPr>
          <p:cNvPr id="16" name="Text 13"/>
          <p:cNvSpPr/>
          <p:nvPr/>
        </p:nvSpPr>
        <p:spPr>
          <a:xfrm>
            <a:off x="535781" y="3187480"/>
            <a:ext cx="4188833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Client::</a:t>
            </a:r>
            <a:r>
              <a:rPr lang="en-US" sz="584" b="1" dirty="0">
                <a:solidFill>
                  <a:srgbClr val="22D3EE"/>
                </a:solidFill>
              </a:rPr>
              <a:t>getAdresse</a:t>
            </a:r>
            <a:r>
              <a:rPr lang="en-US" sz="621" dirty="0">
                <a:solidFill>
                  <a:srgbClr val="E0E7FF"/>
                </a:solidFill>
              </a:rPr>
              <a:t>,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535781" y="3362139"/>
            <a:ext cx="39907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22D3EE"/>
                </a:solidFill>
              </a:rPr>
              <a:t>Collectors</a:t>
            </a:r>
            <a:endParaRPr lang="en-US" sz="621" dirty="0"/>
          </a:p>
        </p:txBody>
      </p:sp>
      <p:sp>
        <p:nvSpPr>
          <p:cNvPr id="18" name="Text 15"/>
          <p:cNvSpPr/>
          <p:nvPr/>
        </p:nvSpPr>
        <p:spPr>
          <a:xfrm>
            <a:off x="535781" y="3518939"/>
            <a:ext cx="4188833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.</a:t>
            </a:r>
            <a:r>
              <a:rPr lang="en-US" sz="584" b="1" dirty="0">
                <a:solidFill>
                  <a:srgbClr val="22D3EE"/>
                </a:solidFill>
              </a:rPr>
              <a:t>averagingDouble</a:t>
            </a:r>
            <a:r>
              <a:rPr lang="en-US" sz="621" dirty="0">
                <a:solidFill>
                  <a:srgbClr val="E0E7FF"/>
                </a:solidFill>
              </a:rPr>
              <a:t>(</a:t>
            </a:r>
            <a:endParaRPr lang="en-US" sz="621" dirty="0"/>
          </a:p>
        </p:txBody>
      </p:sp>
      <p:sp>
        <p:nvSpPr>
          <p:cNvPr id="19" name="Text 16"/>
          <p:cNvSpPr/>
          <p:nvPr/>
        </p:nvSpPr>
        <p:spPr>
          <a:xfrm>
            <a:off x="535781" y="3684668"/>
            <a:ext cx="4188833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Client::</a:t>
            </a:r>
            <a:r>
              <a:rPr lang="en-US" sz="584" b="1" dirty="0">
                <a:solidFill>
                  <a:srgbClr val="22D3EE"/>
                </a:solidFill>
              </a:rPr>
              <a:t>getChiffreAffaire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535781" y="3850398"/>
            <a:ext cx="4188833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)</a:t>
            </a:r>
            <a:endParaRPr lang="en-US" sz="621" dirty="0"/>
          </a:p>
        </p:txBody>
      </p:sp>
      <p:sp>
        <p:nvSpPr>
          <p:cNvPr id="21" name="Text 18"/>
          <p:cNvSpPr/>
          <p:nvPr/>
        </p:nvSpPr>
        <p:spPr>
          <a:xfrm>
            <a:off x="535781" y="4016127"/>
            <a:ext cx="4188833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)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535781" y="4181856"/>
            <a:ext cx="4188833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);</a:t>
            </a:r>
            <a:endParaRPr lang="en-US" sz="621" dirty="0"/>
          </a:p>
        </p:txBody>
      </p:sp>
      <p:sp>
        <p:nvSpPr>
          <p:cNvPr id="23" name="Shape 20"/>
          <p:cNvSpPr/>
          <p:nvPr/>
        </p:nvSpPr>
        <p:spPr>
          <a:xfrm>
            <a:off x="428625" y="4454742"/>
            <a:ext cx="4403145" cy="471488"/>
          </a:xfrm>
          <a:prstGeom prst="rect">
            <a:avLst/>
          </a:prstGeom>
          <a:solidFill>
            <a:srgbClr val="FBBF24">
              <a:alpha val="8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4" name="Shape 21"/>
          <p:cNvSpPr/>
          <p:nvPr/>
        </p:nvSpPr>
        <p:spPr>
          <a:xfrm>
            <a:off x="428625" y="4454742"/>
            <a:ext cx="21431" cy="47148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5" name="Text 22"/>
          <p:cNvSpPr/>
          <p:nvPr/>
        </p:nvSpPr>
        <p:spPr>
          <a:xfrm>
            <a:off x="500063" y="4526180"/>
            <a:ext cx="426027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485" b="1" dirty="0">
                <a:solidFill>
                  <a:srgbClr val="FBBF24"/>
                </a:solidFill>
              </a:rPr>
              <a:t>Explication du Pipeline</a:t>
            </a:r>
            <a:endParaRPr lang="en-US" sz="485" dirty="0"/>
          </a:p>
        </p:txBody>
      </p:sp>
      <p:sp>
        <p:nvSpPr>
          <p:cNvPr id="26" name="Text 23"/>
          <p:cNvSpPr/>
          <p:nvPr/>
        </p:nvSpPr>
        <p:spPr>
          <a:xfrm>
            <a:off x="500063" y="4654767"/>
            <a:ext cx="42602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485" b="1" dirty="0">
                <a:solidFill>
                  <a:srgbClr val="FBBF24"/>
                </a:solidFill>
              </a:rPr>
              <a:t>groupingBy()</a:t>
            </a:r>
            <a:r>
              <a:rPr lang="en-US" sz="516" dirty="0">
                <a:solidFill>
                  <a:srgbClr val="E0E7FF"/>
                </a:solidFill>
              </a:rPr>
              <a:t> regroupe les clients par ville. </a:t>
            </a:r>
            <a:r>
              <a:rPr lang="en-US" sz="485" b="1" dirty="0">
                <a:solidFill>
                  <a:srgbClr val="FBBF24"/>
                </a:solidFill>
              </a:rPr>
              <a:t>averagingDouble()</a:t>
            </a:r>
            <a:r>
              <a:rPr lang="en-US" sz="516" dirty="0">
                <a:solidFill>
                  <a:srgbClr val="E0E7FF"/>
                </a:solidFill>
              </a:rPr>
              <a:t> est un </a:t>
            </a:r>
            <a:r>
              <a:rPr lang="en-US" sz="485" b="1" dirty="0">
                <a:solidFill>
                  <a:srgbClr val="FBBF24"/>
                </a:solidFill>
              </a:rPr>
              <a:t>Downstream Collector</a:t>
            </a:r>
            <a:r>
              <a:rPr lang="en-US" sz="516" dirty="0">
                <a:solidFill>
                  <a:srgbClr val="E0E7FF"/>
                </a:solidFill>
              </a:rPr>
              <a:t> qui calcule la moyenne du CA pour chaque groupe de clients.</a:t>
            </a:r>
            <a:endParaRPr lang="en-US" sz="485" dirty="0"/>
          </a:p>
        </p:txBody>
      </p:sp>
      <p:sp>
        <p:nvSpPr>
          <p:cNvPr id="27" name="Text 24"/>
          <p:cNvSpPr/>
          <p:nvPr/>
        </p:nvSpPr>
        <p:spPr>
          <a:xfrm>
            <a:off x="5046083" y="1871635"/>
            <a:ext cx="36692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kern="0" spc="1" dirty="0">
                <a:solidFill>
                  <a:srgbClr val="FB923C"/>
                </a:solidFill>
              </a:rPr>
              <a:t>Résultat Attendu</a:t>
            </a:r>
            <a:endParaRPr lang="en-US" sz="584" dirty="0"/>
          </a:p>
        </p:txBody>
      </p:sp>
      <p:sp>
        <p:nvSpPr>
          <p:cNvPr id="28" name="Shape 25"/>
          <p:cNvSpPr/>
          <p:nvPr/>
        </p:nvSpPr>
        <p:spPr>
          <a:xfrm>
            <a:off x="5046083" y="2085947"/>
            <a:ext cx="1795537" cy="278606"/>
          </a:xfrm>
          <a:prstGeom prst="rect">
            <a:avLst/>
          </a:prstGeom>
          <a:solidFill>
            <a:srgbClr val="22D3EE">
              <a:alpha val="15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9" name="Shape 26"/>
          <p:cNvSpPr/>
          <p:nvPr/>
        </p:nvSpPr>
        <p:spPr>
          <a:xfrm>
            <a:off x="5046083" y="2350266"/>
            <a:ext cx="1795537" cy="1428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0" name="Text 27"/>
          <p:cNvSpPr/>
          <p:nvPr/>
        </p:nvSpPr>
        <p:spPr>
          <a:xfrm>
            <a:off x="5046083" y="2085947"/>
            <a:ext cx="1795537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22D3EE"/>
                </a:solidFill>
              </a:rPr>
              <a:t>Ville</a:t>
            </a:r>
            <a:endParaRPr lang="en-US" sz="584" dirty="0"/>
          </a:p>
        </p:txBody>
      </p:sp>
      <p:sp>
        <p:nvSpPr>
          <p:cNvPr id="31" name="Shape 28"/>
          <p:cNvSpPr/>
          <p:nvPr/>
        </p:nvSpPr>
        <p:spPr>
          <a:xfrm>
            <a:off x="6841620" y="2085947"/>
            <a:ext cx="1873755" cy="278606"/>
          </a:xfrm>
          <a:prstGeom prst="rect">
            <a:avLst/>
          </a:prstGeom>
          <a:solidFill>
            <a:srgbClr val="22D3EE">
              <a:alpha val="15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2" name="Shape 29"/>
          <p:cNvSpPr/>
          <p:nvPr/>
        </p:nvSpPr>
        <p:spPr>
          <a:xfrm>
            <a:off x="6841620" y="2350266"/>
            <a:ext cx="1873755" cy="1428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3" name="Text 30"/>
          <p:cNvSpPr/>
          <p:nvPr/>
        </p:nvSpPr>
        <p:spPr>
          <a:xfrm>
            <a:off x="6841620" y="2085947"/>
            <a:ext cx="1873755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22D3EE"/>
                </a:solidFill>
              </a:rPr>
              <a:t>CA Moyen</a:t>
            </a:r>
            <a:endParaRPr lang="en-US" sz="584" dirty="0"/>
          </a:p>
        </p:txBody>
      </p:sp>
      <p:sp>
        <p:nvSpPr>
          <p:cNvPr id="34" name="Text 31"/>
          <p:cNvSpPr/>
          <p:nvPr/>
        </p:nvSpPr>
        <p:spPr>
          <a:xfrm>
            <a:off x="5117520" y="2434205"/>
            <a:ext cx="28452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BBF24"/>
                </a:solidFill>
              </a:rPr>
              <a:t>Agadir</a:t>
            </a:r>
            <a:endParaRPr lang="en-US" sz="584" dirty="0"/>
          </a:p>
        </p:txBody>
      </p:sp>
      <p:sp>
        <p:nvSpPr>
          <p:cNvPr id="35" name="Text 32"/>
          <p:cNvSpPr/>
          <p:nvPr/>
        </p:nvSpPr>
        <p:spPr>
          <a:xfrm>
            <a:off x="6913057" y="2434205"/>
            <a:ext cx="51248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22D3EE"/>
                </a:solidFill>
              </a:rPr>
              <a:t>210,000.00 €</a:t>
            </a:r>
            <a:endParaRPr lang="en-US" sz="584" dirty="0"/>
          </a:p>
        </p:txBody>
      </p:sp>
      <p:sp>
        <p:nvSpPr>
          <p:cNvPr id="36" name="Shape 33"/>
          <p:cNvSpPr/>
          <p:nvPr/>
        </p:nvSpPr>
        <p:spPr>
          <a:xfrm>
            <a:off x="5046083" y="2632444"/>
            <a:ext cx="3669292" cy="278606"/>
          </a:xfrm>
          <a:prstGeom prst="rect">
            <a:avLst/>
          </a:prstGeom>
          <a:solidFill>
            <a:srgbClr val="22D3EE">
              <a:alpha val="3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7" name="Text 34"/>
          <p:cNvSpPr/>
          <p:nvPr/>
        </p:nvSpPr>
        <p:spPr>
          <a:xfrm>
            <a:off x="5117520" y="2712811"/>
            <a:ext cx="48513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BBF24"/>
                </a:solidFill>
              </a:rPr>
              <a:t>Casablanca</a:t>
            </a:r>
            <a:endParaRPr lang="en-US" sz="584" dirty="0"/>
          </a:p>
        </p:txBody>
      </p:sp>
      <p:sp>
        <p:nvSpPr>
          <p:cNvPr id="38" name="Text 35"/>
          <p:cNvSpPr/>
          <p:nvPr/>
        </p:nvSpPr>
        <p:spPr>
          <a:xfrm>
            <a:off x="6913057" y="2712811"/>
            <a:ext cx="51248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22D3EE"/>
                </a:solidFill>
              </a:rPr>
              <a:t>151,250.00 €</a:t>
            </a:r>
            <a:endParaRPr lang="en-US" sz="584" dirty="0"/>
          </a:p>
        </p:txBody>
      </p:sp>
      <p:sp>
        <p:nvSpPr>
          <p:cNvPr id="39" name="Text 36"/>
          <p:cNvSpPr/>
          <p:nvPr/>
        </p:nvSpPr>
        <p:spPr>
          <a:xfrm>
            <a:off x="5117520" y="2991417"/>
            <a:ext cx="14033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BBF24"/>
                </a:solidFill>
              </a:rPr>
              <a:t>Fès</a:t>
            </a:r>
            <a:endParaRPr lang="en-US" sz="584" dirty="0"/>
          </a:p>
        </p:txBody>
      </p:sp>
      <p:sp>
        <p:nvSpPr>
          <p:cNvPr id="40" name="Text 37"/>
          <p:cNvSpPr/>
          <p:nvPr/>
        </p:nvSpPr>
        <p:spPr>
          <a:xfrm>
            <a:off x="6913057" y="2991417"/>
            <a:ext cx="51248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22D3EE"/>
                </a:solidFill>
              </a:rPr>
              <a:t>505,000.13 €</a:t>
            </a:r>
            <a:endParaRPr lang="en-US" sz="584" dirty="0"/>
          </a:p>
        </p:txBody>
      </p:sp>
      <p:sp>
        <p:nvSpPr>
          <p:cNvPr id="41" name="Shape 38"/>
          <p:cNvSpPr/>
          <p:nvPr/>
        </p:nvSpPr>
        <p:spPr>
          <a:xfrm>
            <a:off x="5046083" y="3189656"/>
            <a:ext cx="3669292" cy="278606"/>
          </a:xfrm>
          <a:prstGeom prst="rect">
            <a:avLst/>
          </a:prstGeom>
          <a:solidFill>
            <a:srgbClr val="22D3EE">
              <a:alpha val="3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2" name="Text 39"/>
          <p:cNvSpPr/>
          <p:nvPr/>
        </p:nvSpPr>
        <p:spPr>
          <a:xfrm>
            <a:off x="5117520" y="3270024"/>
            <a:ext cx="4647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BBF24"/>
                </a:solidFill>
              </a:rPr>
              <a:t>Marrakech</a:t>
            </a:r>
            <a:endParaRPr lang="en-US" sz="584" dirty="0"/>
          </a:p>
        </p:txBody>
      </p:sp>
      <p:sp>
        <p:nvSpPr>
          <p:cNvPr id="43" name="Text 40"/>
          <p:cNvSpPr/>
          <p:nvPr/>
        </p:nvSpPr>
        <p:spPr>
          <a:xfrm>
            <a:off x="6913057" y="3270024"/>
            <a:ext cx="51248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22D3EE"/>
                </a:solidFill>
              </a:rPr>
              <a:t>825,000.00 €</a:t>
            </a:r>
            <a:endParaRPr lang="en-US" sz="584" dirty="0"/>
          </a:p>
        </p:txBody>
      </p:sp>
      <p:sp>
        <p:nvSpPr>
          <p:cNvPr id="44" name="Shape 41"/>
          <p:cNvSpPr/>
          <p:nvPr/>
        </p:nvSpPr>
        <p:spPr>
          <a:xfrm>
            <a:off x="5046083" y="3578991"/>
            <a:ext cx="3669292" cy="471488"/>
          </a:xfrm>
          <a:prstGeom prst="rect">
            <a:avLst/>
          </a:prstGeom>
          <a:solidFill>
            <a:srgbClr val="FBBF24">
              <a:alpha val="8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5" name="Shape 42"/>
          <p:cNvSpPr/>
          <p:nvPr/>
        </p:nvSpPr>
        <p:spPr>
          <a:xfrm>
            <a:off x="5046083" y="3578991"/>
            <a:ext cx="21431" cy="47148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6" name="Text 43"/>
          <p:cNvSpPr/>
          <p:nvPr/>
        </p:nvSpPr>
        <p:spPr>
          <a:xfrm>
            <a:off x="5117520" y="3650428"/>
            <a:ext cx="352641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485" b="1" dirty="0">
                <a:solidFill>
                  <a:srgbClr val="FBBF24"/>
                </a:solidFill>
              </a:rPr>
              <a:t>Interprétation des Résultats</a:t>
            </a:r>
            <a:endParaRPr lang="en-US" sz="485" dirty="0"/>
          </a:p>
        </p:txBody>
      </p:sp>
      <p:sp>
        <p:nvSpPr>
          <p:cNvPr id="47" name="Text 44"/>
          <p:cNvSpPr/>
          <p:nvPr/>
        </p:nvSpPr>
        <p:spPr>
          <a:xfrm>
            <a:off x="5117520" y="3779016"/>
            <a:ext cx="35264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16" dirty="0">
                <a:solidFill>
                  <a:srgbClr val="E0E7FF"/>
                </a:solidFill>
              </a:rPr>
              <a:t>Casablanca a 4 clients avec un CA moyen de 151k. Fès a 4 clients avec un CA moyen de 505k. Marrakech a 2 clients avec un CA moyen de 825k (le plus élevé). Agadir a 1 client avec un CA de 210k.</a:t>
            </a:r>
            <a:endParaRPr lang="en-US" sz="516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548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FBBF24"/>
                </a:solidFill>
              </a:rPr>
              <a:t>&gt; Bonnes Pratiques et Performance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428625" y="1000125"/>
            <a:ext cx="4054078" cy="2309496"/>
          </a:xfrm>
          <a:prstGeom prst="rect">
            <a:avLst/>
          </a:prstGeom>
          <a:solidFill>
            <a:srgbClr val="1A1F3A">
              <a:alpha val="60000"/>
            </a:srgbClr>
          </a:solidFill>
          <a:ln w="9144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3768328" cy="235744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FBBF24"/>
                </a:solidFill>
              </a:rPr>
              <a:t>① Immutabilité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571500" y="1464469"/>
            <a:ext cx="3768328" cy="274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Les Streams </a:t>
            </a:r>
            <a:r>
              <a:rPr lang="en-US" sz="584" b="1" dirty="0">
                <a:solidFill>
                  <a:srgbClr val="22D3EE"/>
                </a:solidFill>
              </a:rPr>
              <a:t>ne modifient jamais</a:t>
            </a:r>
            <a:r>
              <a:rPr lang="en-US" sz="621" dirty="0">
                <a:solidFill>
                  <a:srgbClr val="E0E7FF"/>
                </a:solidFill>
              </a:rPr>
              <a:t> la source de données. Ils produisent de nouveaux résultats.</a:t>
            </a:r>
            <a:endParaRPr lang="en-US" sz="621" dirty="0"/>
          </a:p>
        </p:txBody>
      </p:sp>
      <p:sp>
        <p:nvSpPr>
          <p:cNvPr id="7" name="Shape 4"/>
          <p:cNvSpPr/>
          <p:nvPr/>
        </p:nvSpPr>
        <p:spPr>
          <a:xfrm>
            <a:off x="571500" y="1824503"/>
            <a:ext cx="3768328" cy="888616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8" name="Shape 5"/>
          <p:cNvSpPr/>
          <p:nvPr/>
        </p:nvSpPr>
        <p:spPr>
          <a:xfrm>
            <a:off x="571500" y="1824503"/>
            <a:ext cx="14288" cy="888616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9" name="Text 6"/>
          <p:cNvSpPr/>
          <p:nvPr/>
        </p:nvSpPr>
        <p:spPr>
          <a:xfrm>
            <a:off x="642938" y="1895940"/>
            <a:ext cx="42396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B923C">
                    <a:alpha val="70000"/>
                  </a:srgbClr>
                </a:solidFill>
              </a:rPr>
              <a:t>// ✓ Correct</a:t>
            </a:r>
            <a:endParaRPr lang="en-US" sz="568" dirty="0"/>
          </a:p>
        </p:txBody>
      </p:sp>
      <p:sp>
        <p:nvSpPr>
          <p:cNvPr id="10" name="Text 7"/>
          <p:cNvSpPr/>
          <p:nvPr/>
        </p:nvSpPr>
        <p:spPr>
          <a:xfrm>
            <a:off x="642938" y="2020230"/>
            <a:ext cx="362545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BBF24"/>
                </a:solidFill>
              </a:rPr>
              <a:t>List</a:t>
            </a:r>
            <a:r>
              <a:rPr lang="en-US" sz="568" dirty="0">
                <a:solidFill>
                  <a:srgbClr val="E0E7FF"/>
                </a:solidFill>
              </a:rPr>
              <a:t>&lt;Client&gt; filtered =</a:t>
            </a:r>
            <a:endParaRPr lang="en-US" sz="534" dirty="0"/>
          </a:p>
        </p:txBody>
      </p:sp>
      <p:sp>
        <p:nvSpPr>
          <p:cNvPr id="11" name="Text 8"/>
          <p:cNvSpPr/>
          <p:nvPr/>
        </p:nvSpPr>
        <p:spPr>
          <a:xfrm>
            <a:off x="642938" y="2144520"/>
            <a:ext cx="362545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clients.</a:t>
            </a:r>
            <a:r>
              <a:rPr lang="en-US" sz="534" b="1" dirty="0">
                <a:solidFill>
                  <a:srgbClr val="22D3EE"/>
                </a:solidFill>
              </a:rPr>
              <a:t>stream</a:t>
            </a:r>
            <a:r>
              <a:rPr lang="en-US" sz="568" dirty="0">
                <a:solidFill>
                  <a:srgbClr val="E0E7FF"/>
                </a:solidFill>
              </a:rPr>
              <a:t>()</a:t>
            </a:r>
            <a:endParaRPr lang="en-US" sz="568" dirty="0"/>
          </a:p>
        </p:txBody>
      </p:sp>
      <p:sp>
        <p:nvSpPr>
          <p:cNvPr id="12" name="Text 9"/>
          <p:cNvSpPr/>
          <p:nvPr/>
        </p:nvSpPr>
        <p:spPr>
          <a:xfrm>
            <a:off x="642938" y="2268810"/>
            <a:ext cx="362545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34" b="1" dirty="0">
                <a:solidFill>
                  <a:srgbClr val="22D3EE"/>
                </a:solidFill>
              </a:rPr>
              <a:t>filter</a:t>
            </a:r>
            <a:r>
              <a:rPr lang="en-US" sz="568" dirty="0">
                <a:solidFill>
                  <a:srgbClr val="E0E7FF"/>
                </a:solidFill>
              </a:rPr>
              <a:t>(...)</a:t>
            </a:r>
            <a:endParaRPr lang="en-US" sz="568" dirty="0"/>
          </a:p>
        </p:txBody>
      </p:sp>
      <p:sp>
        <p:nvSpPr>
          <p:cNvPr id="13" name="Text 10"/>
          <p:cNvSpPr/>
          <p:nvPr/>
        </p:nvSpPr>
        <p:spPr>
          <a:xfrm>
            <a:off x="642938" y="2393100"/>
            <a:ext cx="362545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34" b="1" dirty="0">
                <a:solidFill>
                  <a:srgbClr val="22D3EE"/>
                </a:solidFill>
              </a:rPr>
              <a:t>collect</a:t>
            </a:r>
            <a:r>
              <a:rPr lang="en-US" sz="568" dirty="0">
                <a:solidFill>
                  <a:srgbClr val="E0E7FF"/>
                </a:solidFill>
              </a:rPr>
              <a:t>(...)</a:t>
            </a:r>
            <a:endParaRPr lang="en-US" sz="568" dirty="0"/>
          </a:p>
        </p:txBody>
      </p:sp>
      <p:sp>
        <p:nvSpPr>
          <p:cNvPr id="14" name="Text 11"/>
          <p:cNvSpPr/>
          <p:nvPr/>
        </p:nvSpPr>
        <p:spPr>
          <a:xfrm>
            <a:off x="642938" y="2517391"/>
            <a:ext cx="7212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B923C">
                    <a:alpha val="70000"/>
                  </a:srgbClr>
                </a:solidFill>
              </a:rPr>
              <a:t>// clients inchangée</a:t>
            </a:r>
            <a:endParaRPr lang="en-US" sz="568" dirty="0"/>
          </a:p>
        </p:txBody>
      </p:sp>
      <p:sp>
        <p:nvSpPr>
          <p:cNvPr id="15" name="Shape 12"/>
          <p:cNvSpPr/>
          <p:nvPr/>
        </p:nvSpPr>
        <p:spPr>
          <a:xfrm>
            <a:off x="571500" y="2784556"/>
            <a:ext cx="3768328" cy="367903"/>
          </a:xfrm>
          <a:prstGeom prst="rect">
            <a:avLst/>
          </a:prstGeom>
          <a:solidFill>
            <a:srgbClr val="FBBF24">
              <a:alpha val="8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6" name="Shape 13"/>
          <p:cNvSpPr/>
          <p:nvPr/>
        </p:nvSpPr>
        <p:spPr>
          <a:xfrm>
            <a:off x="571500" y="2784556"/>
            <a:ext cx="21431" cy="367903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7" name="Text 14"/>
          <p:cNvSpPr/>
          <p:nvPr/>
        </p:nvSpPr>
        <p:spPr>
          <a:xfrm>
            <a:off x="628650" y="2841706"/>
            <a:ext cx="365402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485" b="1" dirty="0">
                <a:solidFill>
                  <a:srgbClr val="FB923C"/>
                </a:solidFill>
              </a:rPr>
              <a:t>💡 Avantage</a:t>
            </a:r>
            <a:endParaRPr lang="en-US" sz="485" dirty="0"/>
          </a:p>
        </p:txBody>
      </p:sp>
      <p:sp>
        <p:nvSpPr>
          <p:cNvPr id="18" name="Text 15"/>
          <p:cNvSpPr/>
          <p:nvPr/>
        </p:nvSpPr>
        <p:spPr>
          <a:xfrm>
            <a:off x="628650" y="2982795"/>
            <a:ext cx="174963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Pas d'effets de bord, code plus sûr et prévisible.</a:t>
            </a:r>
            <a:endParaRPr lang="en-US" sz="568" dirty="0"/>
          </a:p>
        </p:txBody>
      </p:sp>
      <p:sp>
        <p:nvSpPr>
          <p:cNvPr id="19" name="Shape 16"/>
          <p:cNvSpPr/>
          <p:nvPr/>
        </p:nvSpPr>
        <p:spPr>
          <a:xfrm>
            <a:off x="4661297" y="1000125"/>
            <a:ext cx="4054078" cy="2295209"/>
          </a:xfrm>
          <a:prstGeom prst="rect">
            <a:avLst/>
          </a:prstGeom>
          <a:solidFill>
            <a:srgbClr val="1A1F3A">
              <a:alpha val="60000"/>
            </a:srgbClr>
          </a:solidFill>
          <a:ln w="9144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0" name="Text 17"/>
          <p:cNvSpPr/>
          <p:nvPr/>
        </p:nvSpPr>
        <p:spPr>
          <a:xfrm>
            <a:off x="4804172" y="1143000"/>
            <a:ext cx="3768328" cy="235744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FBBF24"/>
                </a:solidFill>
              </a:rPr>
              <a:t>② Lazy Evaluation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4804172" y="1464469"/>
            <a:ext cx="3768328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Les opérations intermédiaires ne s'exécutent que lors de l'appel d'une opération </a:t>
            </a:r>
            <a:r>
              <a:rPr lang="en-US" sz="584" b="1" dirty="0">
                <a:solidFill>
                  <a:srgbClr val="22D3EE"/>
                </a:solidFill>
              </a:rPr>
              <a:t>terminale</a:t>
            </a:r>
            <a:r>
              <a:rPr lang="en-US" sz="621" dirty="0">
                <a:solidFill>
                  <a:srgbClr val="E0E7FF"/>
                </a:solidFill>
              </a:rPr>
              <a:t>.</a:t>
            </a:r>
            <a:endParaRPr lang="en-US" sz="621" dirty="0"/>
          </a:p>
        </p:txBody>
      </p:sp>
      <p:sp>
        <p:nvSpPr>
          <p:cNvPr id="22" name="Shape 19"/>
          <p:cNvSpPr/>
          <p:nvPr/>
        </p:nvSpPr>
        <p:spPr>
          <a:xfrm>
            <a:off x="4804172" y="1687348"/>
            <a:ext cx="3768328" cy="888616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3" name="Shape 20"/>
          <p:cNvSpPr/>
          <p:nvPr/>
        </p:nvSpPr>
        <p:spPr>
          <a:xfrm>
            <a:off x="4804172" y="1687348"/>
            <a:ext cx="14288" cy="888616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4" name="Text 21"/>
          <p:cNvSpPr/>
          <p:nvPr/>
        </p:nvSpPr>
        <p:spPr>
          <a:xfrm>
            <a:off x="4875609" y="1758786"/>
            <a:ext cx="51462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B923C">
                    <a:alpha val="70000"/>
                  </a:srgbClr>
                </a:solidFill>
              </a:rPr>
              <a:t>// Pas exécuté</a:t>
            </a:r>
            <a:endParaRPr lang="en-US" sz="568" dirty="0"/>
          </a:p>
        </p:txBody>
      </p:sp>
      <p:sp>
        <p:nvSpPr>
          <p:cNvPr id="25" name="Text 22"/>
          <p:cNvSpPr/>
          <p:nvPr/>
        </p:nvSpPr>
        <p:spPr>
          <a:xfrm>
            <a:off x="4875609" y="1883076"/>
            <a:ext cx="362545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clients.</a:t>
            </a:r>
            <a:r>
              <a:rPr lang="en-US" sz="534" b="1" dirty="0">
                <a:solidFill>
                  <a:srgbClr val="22D3EE"/>
                </a:solidFill>
              </a:rPr>
              <a:t>stream</a:t>
            </a:r>
            <a:r>
              <a:rPr lang="en-US" sz="568" dirty="0">
                <a:solidFill>
                  <a:srgbClr val="E0E7FF"/>
                </a:solidFill>
              </a:rPr>
              <a:t>()</a:t>
            </a:r>
            <a:endParaRPr lang="en-US" sz="568" dirty="0"/>
          </a:p>
        </p:txBody>
      </p:sp>
      <p:sp>
        <p:nvSpPr>
          <p:cNvPr id="26" name="Text 23"/>
          <p:cNvSpPr/>
          <p:nvPr/>
        </p:nvSpPr>
        <p:spPr>
          <a:xfrm>
            <a:off x="4875609" y="2007366"/>
            <a:ext cx="362545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34" b="1" dirty="0">
                <a:solidFill>
                  <a:srgbClr val="22D3EE"/>
                </a:solidFill>
              </a:rPr>
              <a:t>filter</a:t>
            </a:r>
            <a:r>
              <a:rPr lang="en-US" sz="568" dirty="0">
                <a:solidFill>
                  <a:srgbClr val="E0E7FF"/>
                </a:solidFill>
              </a:rPr>
              <a:t>(...)</a:t>
            </a:r>
            <a:endParaRPr lang="en-US" sz="568" dirty="0"/>
          </a:p>
        </p:txBody>
      </p:sp>
      <p:sp>
        <p:nvSpPr>
          <p:cNvPr id="27" name="Text 24"/>
          <p:cNvSpPr/>
          <p:nvPr/>
        </p:nvSpPr>
        <p:spPr>
          <a:xfrm>
            <a:off x="4875609" y="2131656"/>
            <a:ext cx="362545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34" b="1" dirty="0">
                <a:solidFill>
                  <a:srgbClr val="22D3EE"/>
                </a:solidFill>
              </a:rPr>
              <a:t>map</a:t>
            </a:r>
            <a:r>
              <a:rPr lang="en-US" sz="568" dirty="0">
                <a:solidFill>
                  <a:srgbClr val="E0E7FF"/>
                </a:solidFill>
              </a:rPr>
              <a:t>(...)</a:t>
            </a:r>
            <a:endParaRPr lang="en-US" sz="568" dirty="0"/>
          </a:p>
        </p:txBody>
      </p:sp>
      <p:sp>
        <p:nvSpPr>
          <p:cNvPr id="28" name="Text 25"/>
          <p:cNvSpPr/>
          <p:nvPr/>
        </p:nvSpPr>
        <p:spPr>
          <a:xfrm>
            <a:off x="4875609" y="2255946"/>
            <a:ext cx="46459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B923C">
                    <a:alpha val="70000"/>
                  </a:srgbClr>
                </a:solidFill>
              </a:rPr>
              <a:t>// Exécuté ici</a:t>
            </a:r>
            <a:endParaRPr lang="en-US" sz="568" dirty="0"/>
          </a:p>
        </p:txBody>
      </p:sp>
      <p:sp>
        <p:nvSpPr>
          <p:cNvPr id="29" name="Text 26"/>
          <p:cNvSpPr/>
          <p:nvPr/>
        </p:nvSpPr>
        <p:spPr>
          <a:xfrm>
            <a:off x="4875609" y="2380236"/>
            <a:ext cx="362545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34" b="1" dirty="0">
                <a:solidFill>
                  <a:srgbClr val="22D3EE"/>
                </a:solidFill>
              </a:rPr>
              <a:t>collect</a:t>
            </a:r>
            <a:r>
              <a:rPr lang="en-US" sz="568" dirty="0">
                <a:solidFill>
                  <a:srgbClr val="E0E7FF"/>
                </a:solidFill>
              </a:rPr>
              <a:t>(...)</a:t>
            </a:r>
            <a:endParaRPr lang="en-US" sz="568" dirty="0"/>
          </a:p>
        </p:txBody>
      </p:sp>
      <p:sp>
        <p:nvSpPr>
          <p:cNvPr id="30" name="Shape 27"/>
          <p:cNvSpPr/>
          <p:nvPr/>
        </p:nvSpPr>
        <p:spPr>
          <a:xfrm>
            <a:off x="4804172" y="2647401"/>
            <a:ext cx="3768328" cy="367903"/>
          </a:xfrm>
          <a:prstGeom prst="rect">
            <a:avLst/>
          </a:prstGeom>
          <a:solidFill>
            <a:srgbClr val="FBBF24">
              <a:alpha val="8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1" name="Shape 28"/>
          <p:cNvSpPr/>
          <p:nvPr/>
        </p:nvSpPr>
        <p:spPr>
          <a:xfrm>
            <a:off x="4804172" y="2647401"/>
            <a:ext cx="21431" cy="367903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2" name="Text 29"/>
          <p:cNvSpPr/>
          <p:nvPr/>
        </p:nvSpPr>
        <p:spPr>
          <a:xfrm>
            <a:off x="4861322" y="2704551"/>
            <a:ext cx="365402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485" b="1" dirty="0">
                <a:solidFill>
                  <a:srgbClr val="FB923C"/>
                </a:solidFill>
              </a:rPr>
              <a:t>⚡ Optimisation</a:t>
            </a:r>
            <a:endParaRPr lang="en-US" sz="485" dirty="0"/>
          </a:p>
        </p:txBody>
      </p:sp>
      <p:sp>
        <p:nvSpPr>
          <p:cNvPr id="33" name="Text 30"/>
          <p:cNvSpPr/>
          <p:nvPr/>
        </p:nvSpPr>
        <p:spPr>
          <a:xfrm>
            <a:off x="4861322" y="2845640"/>
            <a:ext cx="215785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Évite les traitements inutiles et améliore les performances.</a:t>
            </a:r>
            <a:endParaRPr lang="en-US" sz="568" dirty="0"/>
          </a:p>
        </p:txBody>
      </p:sp>
      <p:sp>
        <p:nvSpPr>
          <p:cNvPr id="34" name="Shape 31"/>
          <p:cNvSpPr/>
          <p:nvPr/>
        </p:nvSpPr>
        <p:spPr>
          <a:xfrm>
            <a:off x="428625" y="3473927"/>
            <a:ext cx="4054078" cy="2309496"/>
          </a:xfrm>
          <a:prstGeom prst="rect">
            <a:avLst/>
          </a:prstGeom>
          <a:solidFill>
            <a:srgbClr val="1A1F3A">
              <a:alpha val="60000"/>
            </a:srgbClr>
          </a:solidFill>
          <a:ln w="9144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5" name="Text 32"/>
          <p:cNvSpPr/>
          <p:nvPr/>
        </p:nvSpPr>
        <p:spPr>
          <a:xfrm>
            <a:off x="571500" y="3616802"/>
            <a:ext cx="3768328" cy="235744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FBBF24"/>
                </a:solidFill>
              </a:rPr>
              <a:t>③ Streams Parallèles</a:t>
            </a:r>
            <a:endParaRPr lang="en-US" sz="683" dirty="0"/>
          </a:p>
        </p:txBody>
      </p:sp>
      <p:sp>
        <p:nvSpPr>
          <p:cNvPr id="36" name="Text 33"/>
          <p:cNvSpPr/>
          <p:nvPr/>
        </p:nvSpPr>
        <p:spPr>
          <a:xfrm>
            <a:off x="571500" y="3938271"/>
            <a:ext cx="3768328" cy="274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Utiliser </a:t>
            </a:r>
            <a:r>
              <a:rPr lang="en-US" sz="584" b="1" dirty="0">
                <a:solidFill>
                  <a:srgbClr val="22D3EE"/>
                </a:solidFill>
              </a:rPr>
              <a:t>parallelStream()</a:t>
            </a:r>
            <a:r>
              <a:rPr lang="en-US" sz="621" dirty="0">
                <a:solidFill>
                  <a:srgbClr val="E0E7FF"/>
                </a:solidFill>
              </a:rPr>
              <a:t> pour les gros volumes de données, mais attention aux coûts de synchronisation.</a:t>
            </a:r>
            <a:endParaRPr lang="en-US" sz="621" dirty="0"/>
          </a:p>
        </p:txBody>
      </p:sp>
      <p:sp>
        <p:nvSpPr>
          <p:cNvPr id="37" name="Shape 34"/>
          <p:cNvSpPr/>
          <p:nvPr/>
        </p:nvSpPr>
        <p:spPr>
          <a:xfrm>
            <a:off x="571500" y="4298305"/>
            <a:ext cx="3768328" cy="888616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8" name="Shape 35"/>
          <p:cNvSpPr/>
          <p:nvPr/>
        </p:nvSpPr>
        <p:spPr>
          <a:xfrm>
            <a:off x="571500" y="4298305"/>
            <a:ext cx="14288" cy="888616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9" name="Text 36"/>
          <p:cNvSpPr/>
          <p:nvPr/>
        </p:nvSpPr>
        <p:spPr>
          <a:xfrm>
            <a:off x="642938" y="4369743"/>
            <a:ext cx="39497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B923C">
                    <a:alpha val="70000"/>
                  </a:srgbClr>
                </a:solidFill>
              </a:rPr>
              <a:t>// Parallèle</a:t>
            </a:r>
            <a:endParaRPr lang="en-US" sz="568" dirty="0"/>
          </a:p>
        </p:txBody>
      </p:sp>
      <p:sp>
        <p:nvSpPr>
          <p:cNvPr id="40" name="Text 37"/>
          <p:cNvSpPr/>
          <p:nvPr/>
        </p:nvSpPr>
        <p:spPr>
          <a:xfrm>
            <a:off x="642938" y="4494033"/>
            <a:ext cx="362545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BBF24"/>
                </a:solidFill>
              </a:rPr>
              <a:t>double</a:t>
            </a:r>
            <a:r>
              <a:rPr lang="en-US" sz="568" dirty="0">
                <a:solidFill>
                  <a:srgbClr val="E0E7FF"/>
                </a:solidFill>
              </a:rPr>
              <a:t> avg =</a:t>
            </a:r>
            <a:endParaRPr lang="en-US" sz="534" dirty="0"/>
          </a:p>
        </p:txBody>
      </p:sp>
      <p:sp>
        <p:nvSpPr>
          <p:cNvPr id="41" name="Text 38"/>
          <p:cNvSpPr/>
          <p:nvPr/>
        </p:nvSpPr>
        <p:spPr>
          <a:xfrm>
            <a:off x="642938" y="4618323"/>
            <a:ext cx="362545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clients.</a:t>
            </a:r>
            <a:r>
              <a:rPr lang="en-US" sz="534" b="1" dirty="0">
                <a:solidFill>
                  <a:srgbClr val="22D3EE"/>
                </a:solidFill>
              </a:rPr>
              <a:t>parallelStream</a:t>
            </a:r>
            <a:r>
              <a:rPr lang="en-US" sz="568" dirty="0">
                <a:solidFill>
                  <a:srgbClr val="E0E7FF"/>
                </a:solidFill>
              </a:rPr>
              <a:t>()</a:t>
            </a:r>
            <a:endParaRPr lang="en-US" sz="568" dirty="0"/>
          </a:p>
        </p:txBody>
      </p:sp>
      <p:sp>
        <p:nvSpPr>
          <p:cNvPr id="42" name="Text 39"/>
          <p:cNvSpPr/>
          <p:nvPr/>
        </p:nvSpPr>
        <p:spPr>
          <a:xfrm>
            <a:off x="642938" y="4742613"/>
            <a:ext cx="362545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34" b="1" dirty="0">
                <a:solidFill>
                  <a:srgbClr val="22D3EE"/>
                </a:solidFill>
              </a:rPr>
              <a:t>mapToDouble</a:t>
            </a:r>
            <a:r>
              <a:rPr lang="en-US" sz="568" dirty="0">
                <a:solidFill>
                  <a:srgbClr val="E0E7FF"/>
                </a:solidFill>
              </a:rPr>
              <a:t>(...)</a:t>
            </a:r>
            <a:endParaRPr lang="en-US" sz="568" dirty="0"/>
          </a:p>
        </p:txBody>
      </p:sp>
      <p:sp>
        <p:nvSpPr>
          <p:cNvPr id="43" name="Text 40"/>
          <p:cNvSpPr/>
          <p:nvPr/>
        </p:nvSpPr>
        <p:spPr>
          <a:xfrm>
            <a:off x="642938" y="4866903"/>
            <a:ext cx="362545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34" b="1" dirty="0">
                <a:solidFill>
                  <a:srgbClr val="22D3EE"/>
                </a:solidFill>
              </a:rPr>
              <a:t>average</a:t>
            </a:r>
            <a:r>
              <a:rPr lang="en-US" sz="568" dirty="0">
                <a:solidFill>
                  <a:srgbClr val="E0E7FF"/>
                </a:solidFill>
              </a:rPr>
              <a:t>()</a:t>
            </a:r>
            <a:endParaRPr lang="en-US" sz="568" dirty="0"/>
          </a:p>
        </p:txBody>
      </p:sp>
      <p:sp>
        <p:nvSpPr>
          <p:cNvPr id="44" name="Text 41"/>
          <p:cNvSpPr/>
          <p:nvPr/>
        </p:nvSpPr>
        <p:spPr>
          <a:xfrm>
            <a:off x="642938" y="4991193"/>
            <a:ext cx="362545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34" b="1" dirty="0">
                <a:solidFill>
                  <a:srgbClr val="22D3EE"/>
                </a:solidFill>
              </a:rPr>
              <a:t>orElse</a:t>
            </a:r>
            <a:r>
              <a:rPr lang="en-US" sz="568" dirty="0">
                <a:solidFill>
                  <a:srgbClr val="E0E7FF"/>
                </a:solidFill>
              </a:rPr>
              <a:t>(</a:t>
            </a:r>
            <a:r>
              <a:rPr lang="en-US" sz="568" dirty="0">
                <a:solidFill>
                  <a:srgbClr val="22D3EE"/>
                </a:solidFill>
              </a:rPr>
              <a:t>0.0</a:t>
            </a:r>
            <a:r>
              <a:rPr lang="en-US" sz="568" dirty="0">
                <a:solidFill>
                  <a:srgbClr val="E0E7FF"/>
                </a:solidFill>
              </a:rPr>
              <a:t>);</a:t>
            </a:r>
            <a:endParaRPr lang="en-US" sz="568" dirty="0"/>
          </a:p>
        </p:txBody>
      </p:sp>
      <p:sp>
        <p:nvSpPr>
          <p:cNvPr id="45" name="Shape 42"/>
          <p:cNvSpPr/>
          <p:nvPr/>
        </p:nvSpPr>
        <p:spPr>
          <a:xfrm>
            <a:off x="571500" y="5258358"/>
            <a:ext cx="3768328" cy="367903"/>
          </a:xfrm>
          <a:prstGeom prst="rect">
            <a:avLst/>
          </a:prstGeom>
          <a:solidFill>
            <a:srgbClr val="FBBF24">
              <a:alpha val="8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6" name="Shape 43"/>
          <p:cNvSpPr/>
          <p:nvPr/>
        </p:nvSpPr>
        <p:spPr>
          <a:xfrm>
            <a:off x="571500" y="5258358"/>
            <a:ext cx="21431" cy="367903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7" name="Text 44"/>
          <p:cNvSpPr/>
          <p:nvPr/>
        </p:nvSpPr>
        <p:spPr>
          <a:xfrm>
            <a:off x="628650" y="5315508"/>
            <a:ext cx="365402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485" b="1" dirty="0">
                <a:solidFill>
                  <a:srgbClr val="FB923C"/>
                </a:solidFill>
              </a:rPr>
              <a:t>⚠️ Attention</a:t>
            </a:r>
            <a:endParaRPr lang="en-US" sz="485" dirty="0"/>
          </a:p>
        </p:txBody>
      </p:sp>
      <p:sp>
        <p:nvSpPr>
          <p:cNvPr id="48" name="Text 45"/>
          <p:cNvSpPr/>
          <p:nvPr/>
        </p:nvSpPr>
        <p:spPr>
          <a:xfrm>
            <a:off x="628650" y="5456597"/>
            <a:ext cx="217379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Utiliser seulement pour de gros volumes (&gt;1000 éléments).</a:t>
            </a:r>
            <a:endParaRPr lang="en-US" sz="568" dirty="0"/>
          </a:p>
        </p:txBody>
      </p:sp>
      <p:sp>
        <p:nvSpPr>
          <p:cNvPr id="49" name="Shape 46"/>
          <p:cNvSpPr/>
          <p:nvPr/>
        </p:nvSpPr>
        <p:spPr>
          <a:xfrm>
            <a:off x="4661297" y="3473927"/>
            <a:ext cx="4054078" cy="2295209"/>
          </a:xfrm>
          <a:prstGeom prst="rect">
            <a:avLst/>
          </a:prstGeom>
          <a:solidFill>
            <a:srgbClr val="1A1F3A">
              <a:alpha val="60000"/>
            </a:srgbClr>
          </a:solidFill>
          <a:ln w="9144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0" name="Text 47"/>
          <p:cNvSpPr/>
          <p:nvPr/>
        </p:nvSpPr>
        <p:spPr>
          <a:xfrm>
            <a:off x="4804172" y="3616802"/>
            <a:ext cx="3768328" cy="235744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FBBF24"/>
                </a:solidFill>
              </a:rPr>
              <a:t>④ Éviter l'Autoboxing</a:t>
            </a:r>
            <a:endParaRPr lang="en-US" sz="683" dirty="0"/>
          </a:p>
        </p:txBody>
      </p:sp>
      <p:sp>
        <p:nvSpPr>
          <p:cNvPr id="51" name="Text 48"/>
          <p:cNvSpPr/>
          <p:nvPr/>
        </p:nvSpPr>
        <p:spPr>
          <a:xfrm>
            <a:off x="4804172" y="3938271"/>
            <a:ext cx="3768328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Préférer les </a:t>
            </a:r>
            <a:r>
              <a:rPr lang="en-US" sz="584" b="1" dirty="0">
                <a:solidFill>
                  <a:srgbClr val="22D3EE"/>
                </a:solidFill>
              </a:rPr>
              <a:t>Streams Primitifs</a:t>
            </a:r>
            <a:r>
              <a:rPr lang="en-US" sz="621" dirty="0">
                <a:solidFill>
                  <a:srgbClr val="E0E7FF"/>
                </a:solidFill>
              </a:rPr>
              <a:t> (IntStream, DoubleStream) pour les calculs numériques.</a:t>
            </a:r>
            <a:endParaRPr lang="en-US" sz="621" dirty="0"/>
          </a:p>
        </p:txBody>
      </p:sp>
      <p:sp>
        <p:nvSpPr>
          <p:cNvPr id="52" name="Shape 49"/>
          <p:cNvSpPr/>
          <p:nvPr/>
        </p:nvSpPr>
        <p:spPr>
          <a:xfrm>
            <a:off x="4804172" y="4161151"/>
            <a:ext cx="3768328" cy="764325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3" name="Shape 50"/>
          <p:cNvSpPr/>
          <p:nvPr/>
        </p:nvSpPr>
        <p:spPr>
          <a:xfrm>
            <a:off x="4804172" y="4161151"/>
            <a:ext cx="14288" cy="764325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4" name="Text 51"/>
          <p:cNvSpPr/>
          <p:nvPr/>
        </p:nvSpPr>
        <p:spPr>
          <a:xfrm>
            <a:off x="4875609" y="4232588"/>
            <a:ext cx="45477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B923C">
                    <a:alpha val="70000"/>
                  </a:srgbClr>
                </a:solidFill>
              </a:rPr>
              <a:t>// ✓ Meilleur</a:t>
            </a:r>
            <a:endParaRPr lang="en-US" sz="568" dirty="0"/>
          </a:p>
        </p:txBody>
      </p:sp>
      <p:sp>
        <p:nvSpPr>
          <p:cNvPr id="55" name="Text 52"/>
          <p:cNvSpPr/>
          <p:nvPr/>
        </p:nvSpPr>
        <p:spPr>
          <a:xfrm>
            <a:off x="4875609" y="4356878"/>
            <a:ext cx="362545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BBF24"/>
                </a:solidFill>
              </a:rPr>
              <a:t>double</a:t>
            </a:r>
            <a:r>
              <a:rPr lang="en-US" sz="568" dirty="0">
                <a:solidFill>
                  <a:srgbClr val="E0E7FF"/>
                </a:solidFill>
              </a:rPr>
              <a:t> sum =</a:t>
            </a:r>
            <a:endParaRPr lang="en-US" sz="534" dirty="0"/>
          </a:p>
        </p:txBody>
      </p:sp>
      <p:sp>
        <p:nvSpPr>
          <p:cNvPr id="56" name="Text 53"/>
          <p:cNvSpPr/>
          <p:nvPr/>
        </p:nvSpPr>
        <p:spPr>
          <a:xfrm>
            <a:off x="4875609" y="4481168"/>
            <a:ext cx="362545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clients.</a:t>
            </a:r>
            <a:r>
              <a:rPr lang="en-US" sz="534" b="1" dirty="0">
                <a:solidFill>
                  <a:srgbClr val="22D3EE"/>
                </a:solidFill>
              </a:rPr>
              <a:t>stream</a:t>
            </a:r>
            <a:r>
              <a:rPr lang="en-US" sz="568" dirty="0">
                <a:solidFill>
                  <a:srgbClr val="E0E7FF"/>
                </a:solidFill>
              </a:rPr>
              <a:t>()</a:t>
            </a:r>
            <a:endParaRPr lang="en-US" sz="568" dirty="0"/>
          </a:p>
        </p:txBody>
      </p:sp>
      <p:sp>
        <p:nvSpPr>
          <p:cNvPr id="57" name="Text 54"/>
          <p:cNvSpPr/>
          <p:nvPr/>
        </p:nvSpPr>
        <p:spPr>
          <a:xfrm>
            <a:off x="4875609" y="4605458"/>
            <a:ext cx="362545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34" b="1" dirty="0">
                <a:solidFill>
                  <a:srgbClr val="22D3EE"/>
                </a:solidFill>
              </a:rPr>
              <a:t>mapToDouble</a:t>
            </a:r>
            <a:r>
              <a:rPr lang="en-US" sz="568" dirty="0">
                <a:solidFill>
                  <a:srgbClr val="E0E7FF"/>
                </a:solidFill>
              </a:rPr>
              <a:t>(...)</a:t>
            </a:r>
            <a:endParaRPr lang="en-US" sz="568" dirty="0"/>
          </a:p>
        </p:txBody>
      </p:sp>
      <p:sp>
        <p:nvSpPr>
          <p:cNvPr id="58" name="Text 55"/>
          <p:cNvSpPr/>
          <p:nvPr/>
        </p:nvSpPr>
        <p:spPr>
          <a:xfrm>
            <a:off x="4875609" y="4729749"/>
            <a:ext cx="362545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.</a:t>
            </a:r>
            <a:r>
              <a:rPr lang="en-US" sz="534" b="1" dirty="0">
                <a:solidFill>
                  <a:srgbClr val="22D3EE"/>
                </a:solidFill>
              </a:rPr>
              <a:t>sum</a:t>
            </a:r>
            <a:r>
              <a:rPr lang="en-US" sz="568" dirty="0">
                <a:solidFill>
                  <a:srgbClr val="E0E7FF"/>
                </a:solidFill>
              </a:rPr>
              <a:t>();</a:t>
            </a:r>
            <a:endParaRPr lang="en-US" sz="568" dirty="0"/>
          </a:p>
        </p:txBody>
      </p:sp>
      <p:sp>
        <p:nvSpPr>
          <p:cNvPr id="59" name="Shape 56"/>
          <p:cNvSpPr/>
          <p:nvPr/>
        </p:nvSpPr>
        <p:spPr>
          <a:xfrm>
            <a:off x="4804172" y="4996914"/>
            <a:ext cx="3768328" cy="367903"/>
          </a:xfrm>
          <a:prstGeom prst="rect">
            <a:avLst/>
          </a:prstGeom>
          <a:solidFill>
            <a:srgbClr val="FBBF24">
              <a:alpha val="8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0" name="Shape 57"/>
          <p:cNvSpPr/>
          <p:nvPr/>
        </p:nvSpPr>
        <p:spPr>
          <a:xfrm>
            <a:off x="4804172" y="4996914"/>
            <a:ext cx="21431" cy="367903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1" name="Text 58"/>
          <p:cNvSpPr/>
          <p:nvPr/>
        </p:nvSpPr>
        <p:spPr>
          <a:xfrm>
            <a:off x="4861322" y="5054064"/>
            <a:ext cx="365402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485" b="1" dirty="0">
                <a:solidFill>
                  <a:srgbClr val="FB923C"/>
                </a:solidFill>
              </a:rPr>
              <a:t>🚀 Performance</a:t>
            </a:r>
            <a:endParaRPr lang="en-US" sz="485" dirty="0"/>
          </a:p>
        </p:txBody>
      </p:sp>
      <p:sp>
        <p:nvSpPr>
          <p:cNvPr id="62" name="Text 59"/>
          <p:cNvSpPr/>
          <p:nvPr/>
        </p:nvSpPr>
        <p:spPr>
          <a:xfrm>
            <a:off x="4861322" y="5195153"/>
            <a:ext cx="172848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Évite la conversion Double ↔ double coûteuse.</a:t>
            </a:r>
            <a:endParaRPr lang="en-US" sz="568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4775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FBBF24"/>
                </a:solidFill>
              </a:rPr>
              <a:t>&gt; Conclusion et Ressources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428625" y="1000125"/>
            <a:ext cx="4036219" cy="2843213"/>
          </a:xfrm>
          <a:prstGeom prst="rect">
            <a:avLst/>
          </a:prstGeom>
          <a:solidFill>
            <a:srgbClr val="1A1F3A">
              <a:alpha val="60000"/>
            </a:srgbClr>
          </a:solidFill>
          <a:ln w="9144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3750469" cy="250031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FBBF24"/>
                </a:solidFill>
              </a:rPr>
              <a:t>🎯 Points Clés à Retenir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571500" y="1500188"/>
            <a:ext cx="375046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22D3EE"/>
                </a:solidFill>
              </a:rPr>
              <a:t>① Pipeline Stream</a:t>
            </a:r>
            <a:endParaRPr lang="en-US" sz="584" dirty="0"/>
          </a:p>
        </p:txBody>
      </p:sp>
      <p:sp>
        <p:nvSpPr>
          <p:cNvPr id="7" name="Text 4"/>
          <p:cNvSpPr/>
          <p:nvPr/>
        </p:nvSpPr>
        <p:spPr>
          <a:xfrm>
            <a:off x="571500" y="1671638"/>
            <a:ext cx="375046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Toujours structurer en trois étapes : </a:t>
            </a:r>
            <a:r>
              <a:rPr lang="en-US" sz="584" b="1" dirty="0">
                <a:solidFill>
                  <a:srgbClr val="FBBF24"/>
                </a:solidFill>
              </a:rPr>
              <a:t>Source</a:t>
            </a:r>
            <a:r>
              <a:rPr lang="en-US" sz="621" dirty="0">
                <a:solidFill>
                  <a:srgbClr val="E0E7FF"/>
                </a:solidFill>
              </a:rPr>
              <a:t> → </a:t>
            </a:r>
            <a:r>
              <a:rPr lang="en-US" sz="584" b="1" dirty="0">
                <a:solidFill>
                  <a:srgbClr val="FBBF24"/>
                </a:solidFill>
              </a:rPr>
              <a:t>Intermédiaires</a:t>
            </a:r>
            <a:r>
              <a:rPr lang="en-US" sz="621" dirty="0">
                <a:solidFill>
                  <a:srgbClr val="E0E7FF"/>
                </a:solidFill>
              </a:rPr>
              <a:t> → </a:t>
            </a:r>
            <a:r>
              <a:rPr lang="en-US" sz="584" b="1" dirty="0">
                <a:solidFill>
                  <a:srgbClr val="FBBF24"/>
                </a:solidFill>
              </a:rPr>
              <a:t>Terminale</a:t>
            </a:r>
            <a:r>
              <a:rPr lang="en-US" sz="621" dirty="0">
                <a:solidFill>
                  <a:srgbClr val="E0E7FF"/>
                </a:solidFill>
              </a:rPr>
              <a:t>.</a:t>
            </a:r>
            <a:endParaRPr lang="en-US" sz="621" dirty="0"/>
          </a:p>
        </p:txBody>
      </p:sp>
      <p:sp>
        <p:nvSpPr>
          <p:cNvPr id="8" name="Text 5"/>
          <p:cNvSpPr/>
          <p:nvPr/>
        </p:nvSpPr>
        <p:spPr>
          <a:xfrm>
            <a:off x="571500" y="2000250"/>
            <a:ext cx="375046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22D3EE"/>
                </a:solidFill>
              </a:rPr>
              <a:t>② Lazy Evaluation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571500" y="2171700"/>
            <a:ext cx="375046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Les intermédiaires ne s'exécutent que lors de l'appel d'une opération </a:t>
            </a:r>
            <a:r>
              <a:rPr lang="en-US" sz="584" b="1" dirty="0">
                <a:solidFill>
                  <a:srgbClr val="FBBF24"/>
                </a:solidFill>
              </a:rPr>
              <a:t>terminale</a:t>
            </a:r>
            <a:r>
              <a:rPr lang="en-US" sz="621" dirty="0">
                <a:solidFill>
                  <a:srgbClr val="E0E7FF"/>
                </a:solidFill>
              </a:rPr>
              <a:t>. Cela optimise les performances.</a:t>
            </a:r>
            <a:endParaRPr lang="en-US" sz="621" dirty="0"/>
          </a:p>
        </p:txBody>
      </p:sp>
      <p:sp>
        <p:nvSpPr>
          <p:cNvPr id="10" name="Text 7"/>
          <p:cNvSpPr/>
          <p:nvPr/>
        </p:nvSpPr>
        <p:spPr>
          <a:xfrm>
            <a:off x="571500" y="2628900"/>
            <a:ext cx="375046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22D3EE"/>
                </a:solidFill>
              </a:rPr>
              <a:t>③ Immutabilité</a:t>
            </a:r>
            <a:endParaRPr lang="en-US" sz="584" dirty="0"/>
          </a:p>
        </p:txBody>
      </p:sp>
      <p:sp>
        <p:nvSpPr>
          <p:cNvPr id="11" name="Text 8"/>
          <p:cNvSpPr/>
          <p:nvPr/>
        </p:nvSpPr>
        <p:spPr>
          <a:xfrm>
            <a:off x="571500" y="2800350"/>
            <a:ext cx="375046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Les Streams ne modifient jamais la source. Ils produisent de </a:t>
            </a:r>
            <a:r>
              <a:rPr lang="en-US" sz="584" b="1" dirty="0">
                <a:solidFill>
                  <a:srgbClr val="FBBF24"/>
                </a:solidFill>
              </a:rPr>
              <a:t>nouveaux résultats</a:t>
            </a:r>
            <a:r>
              <a:rPr lang="en-US" sz="621" dirty="0">
                <a:solidFill>
                  <a:srgbClr val="E0E7FF"/>
                </a:solidFill>
              </a:rPr>
              <a:t> sans effets de bord.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571500" y="3257550"/>
            <a:ext cx="375046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22D3EE"/>
                </a:solidFill>
              </a:rPr>
              <a:t>④ Collectors</a:t>
            </a:r>
            <a:endParaRPr lang="en-US" sz="584" dirty="0"/>
          </a:p>
        </p:txBody>
      </p:sp>
      <p:sp>
        <p:nvSpPr>
          <p:cNvPr id="13" name="Text 10"/>
          <p:cNvSpPr/>
          <p:nvPr/>
        </p:nvSpPr>
        <p:spPr>
          <a:xfrm>
            <a:off x="571500" y="3429000"/>
            <a:ext cx="375046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E0E7FF"/>
                </a:solidFill>
              </a:rPr>
              <a:t>Maîtriser </a:t>
            </a:r>
            <a:r>
              <a:rPr lang="en-US" sz="584" b="1" dirty="0">
                <a:solidFill>
                  <a:srgbClr val="FBBF24"/>
                </a:solidFill>
              </a:rPr>
              <a:t>groupingBy()</a:t>
            </a:r>
            <a:r>
              <a:rPr lang="en-US" sz="621" dirty="0">
                <a:solidFill>
                  <a:srgbClr val="E0E7FF"/>
                </a:solidFill>
              </a:rPr>
              <a:t>, </a:t>
            </a:r>
            <a:r>
              <a:rPr lang="en-US" sz="584" b="1" dirty="0">
                <a:solidFill>
                  <a:srgbClr val="FBBF24"/>
                </a:solidFill>
              </a:rPr>
              <a:t>toMap()</a:t>
            </a:r>
            <a:r>
              <a:rPr lang="en-US" sz="621" dirty="0">
                <a:solidFill>
                  <a:srgbClr val="E0E7FF"/>
                </a:solidFill>
              </a:rPr>
              <a:t>, et les </a:t>
            </a:r>
            <a:r>
              <a:rPr lang="en-US" sz="584" b="1" dirty="0">
                <a:solidFill>
                  <a:srgbClr val="FBBF24"/>
                </a:solidFill>
              </a:rPr>
              <a:t>Downstream Collectors</a:t>
            </a:r>
            <a:r>
              <a:rPr lang="en-US" sz="621" dirty="0">
                <a:solidFill>
                  <a:srgbClr val="E0E7FF"/>
                </a:solidFill>
              </a:rPr>
              <a:t> pour les opérations complexes.</a:t>
            </a:r>
            <a:endParaRPr lang="en-US" sz="621" dirty="0"/>
          </a:p>
        </p:txBody>
      </p:sp>
      <p:sp>
        <p:nvSpPr>
          <p:cNvPr id="14" name="Shape 11"/>
          <p:cNvSpPr/>
          <p:nvPr/>
        </p:nvSpPr>
        <p:spPr>
          <a:xfrm>
            <a:off x="4679156" y="1000125"/>
            <a:ext cx="4036219" cy="2828925"/>
          </a:xfrm>
          <a:prstGeom prst="rect">
            <a:avLst/>
          </a:prstGeom>
          <a:solidFill>
            <a:srgbClr val="1A1F3A">
              <a:alpha val="60000"/>
            </a:srgbClr>
          </a:solidFill>
          <a:ln w="9144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5" name="Text 12"/>
          <p:cNvSpPr/>
          <p:nvPr/>
        </p:nvSpPr>
        <p:spPr>
          <a:xfrm>
            <a:off x="4822031" y="1143000"/>
            <a:ext cx="3750469" cy="250031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FBBF24"/>
                </a:solidFill>
              </a:rPr>
              <a:t>📚 Ressources Supplémentaires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4822031" y="1500188"/>
            <a:ext cx="375046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B923C"/>
                </a:solidFill>
              </a:rPr>
              <a:t>Documentation Oracle</a:t>
            </a:r>
            <a:endParaRPr lang="en-US" sz="584" dirty="0"/>
          </a:p>
        </p:txBody>
      </p:sp>
      <p:sp>
        <p:nvSpPr>
          <p:cNvPr id="17" name="Text 14"/>
          <p:cNvSpPr/>
          <p:nvPr/>
        </p:nvSpPr>
        <p:spPr>
          <a:xfrm>
            <a:off x="4822031" y="1657350"/>
            <a:ext cx="375046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Référence officielle complète sur l'API Stream Java 8+. Incontournable pour approfondir.</a:t>
            </a:r>
            <a:endParaRPr lang="en-US" sz="568" dirty="0"/>
          </a:p>
        </p:txBody>
      </p:sp>
      <p:sp>
        <p:nvSpPr>
          <p:cNvPr id="18" name="Text 15"/>
          <p:cNvSpPr/>
          <p:nvPr/>
        </p:nvSpPr>
        <p:spPr>
          <a:xfrm>
            <a:off x="4822031" y="1968103"/>
            <a:ext cx="375046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B923C"/>
                </a:solidFill>
              </a:rPr>
              <a:t>Tutoriel Baeldung</a:t>
            </a:r>
            <a:endParaRPr lang="en-US" sz="584" dirty="0"/>
          </a:p>
        </p:txBody>
      </p:sp>
      <p:sp>
        <p:nvSpPr>
          <p:cNvPr id="19" name="Text 16"/>
          <p:cNvSpPr/>
          <p:nvPr/>
        </p:nvSpPr>
        <p:spPr>
          <a:xfrm>
            <a:off x="4822031" y="2125266"/>
            <a:ext cx="375046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Tutoriels pratiques et exemples détaillés sur les Streams, Collectors, et opérations parallèles.</a:t>
            </a:r>
            <a:endParaRPr lang="en-US" sz="568" dirty="0"/>
          </a:p>
        </p:txBody>
      </p:sp>
      <p:sp>
        <p:nvSpPr>
          <p:cNvPr id="20" name="Text 17"/>
          <p:cNvSpPr/>
          <p:nvPr/>
        </p:nvSpPr>
        <p:spPr>
          <a:xfrm>
            <a:off x="4822031" y="2436019"/>
            <a:ext cx="375046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B923C"/>
                </a:solidFill>
              </a:rPr>
              <a:t>Java 8+ Lambdas</a:t>
            </a:r>
            <a:endParaRPr lang="en-US" sz="584" dirty="0"/>
          </a:p>
        </p:txBody>
      </p:sp>
      <p:sp>
        <p:nvSpPr>
          <p:cNvPr id="21" name="Text 18"/>
          <p:cNvSpPr/>
          <p:nvPr/>
        </p:nvSpPr>
        <p:spPr>
          <a:xfrm>
            <a:off x="4822031" y="2593181"/>
            <a:ext cx="3750469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Comprendre les expressions lambda est essentiel pour maîtriser les Streams. Pratiquer régulièrement.</a:t>
            </a:r>
            <a:endParaRPr lang="en-US" sz="568" dirty="0"/>
          </a:p>
        </p:txBody>
      </p:sp>
      <p:sp>
        <p:nvSpPr>
          <p:cNvPr id="22" name="Text 19"/>
          <p:cNvSpPr/>
          <p:nvPr/>
        </p:nvSpPr>
        <p:spPr>
          <a:xfrm>
            <a:off x="4822031" y="3021806"/>
            <a:ext cx="375046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B923C"/>
                </a:solidFill>
              </a:rPr>
              <a:t>Exercices Pratiques</a:t>
            </a:r>
            <a:endParaRPr lang="en-US" sz="584" dirty="0"/>
          </a:p>
        </p:txBody>
      </p:sp>
      <p:sp>
        <p:nvSpPr>
          <p:cNvPr id="23" name="Text 20"/>
          <p:cNvSpPr/>
          <p:nvPr/>
        </p:nvSpPr>
        <p:spPr>
          <a:xfrm>
            <a:off x="4822031" y="3178969"/>
            <a:ext cx="375046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E0E7FF"/>
                </a:solidFill>
              </a:rPr>
              <a:t>Créer vos propres projets avec des Streams. La pratique est la meilleure façon d'apprendre.</a:t>
            </a:r>
            <a:endParaRPr lang="en-US" sz="568" dirty="0"/>
          </a:p>
        </p:txBody>
      </p:sp>
      <p:sp>
        <p:nvSpPr>
          <p:cNvPr id="24" name="Shape 21"/>
          <p:cNvSpPr/>
          <p:nvPr/>
        </p:nvSpPr>
        <p:spPr>
          <a:xfrm>
            <a:off x="428625" y="4043363"/>
            <a:ext cx="8286750" cy="832917"/>
          </a:xfrm>
          <a:prstGeom prst="rect">
            <a:avLst/>
          </a:prstGeom>
          <a:solidFill>
            <a:srgbClr val="22D3EE">
              <a:alpha val="8000"/>
            </a:srgbClr>
          </a:solidFill>
          <a:ln w="9144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5" name="Text 22"/>
          <p:cNvSpPr/>
          <p:nvPr/>
        </p:nvSpPr>
        <p:spPr>
          <a:xfrm>
            <a:off x="571500" y="4186238"/>
            <a:ext cx="8001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FBBF24"/>
                </a:solidFill>
              </a:rPr>
              <a:t>✨ Prochaines Étapes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571500" y="4421981"/>
            <a:ext cx="800100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74" dirty="0">
                <a:solidFill>
                  <a:srgbClr val="E0E7FF"/>
                </a:solidFill>
              </a:rPr>
              <a:t>Vous avez maintenant les connaissances fondamentales sur les Streams en Java. </a:t>
            </a:r>
            <a:r>
              <a:rPr lang="en-US" sz="634" b="1" dirty="0">
                <a:solidFill>
                  <a:srgbClr val="FBBF24"/>
                </a:solidFill>
              </a:rPr>
              <a:t>Pratiquez</a:t>
            </a:r>
            <a:r>
              <a:rPr lang="en-US" sz="674" dirty="0">
                <a:solidFill>
                  <a:srgbClr val="E0E7FF"/>
                </a:solidFill>
              </a:rPr>
              <a:t> avec la classe </a:t>
            </a:r>
            <a:r>
              <a:rPr lang="en-US" sz="634" b="1" dirty="0">
                <a:solidFill>
                  <a:srgbClr val="22D3EE"/>
                </a:solidFill>
              </a:rPr>
              <a:t>Client</a:t>
            </a:r>
            <a:r>
              <a:rPr lang="en-US" sz="674" dirty="0">
                <a:solidFill>
                  <a:srgbClr val="E0E7FF"/>
                </a:solidFill>
              </a:rPr>
              <a:t> et explorez les </a:t>
            </a:r>
            <a:r>
              <a:rPr lang="en-US" sz="634" b="1" dirty="0">
                <a:solidFill>
                  <a:srgbClr val="FBBF24"/>
                </a:solidFill>
              </a:rPr>
              <a:t>Streams Parallèles</a:t>
            </a:r>
            <a:r>
              <a:rPr lang="en-US" sz="674" dirty="0">
                <a:solidFill>
                  <a:srgbClr val="E0E7FF"/>
                </a:solidFill>
              </a:rPr>
              <a:t> pour les gros volumes de données. N'hésitez pas à consulter la documentation officielle pour les cas d'usage avancés.</a:t>
            </a:r>
            <a:endParaRPr lang="en-US" sz="67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1814</Words>
  <Application>Microsoft Office PowerPoint</Application>
  <PresentationFormat>Affichage à l'écran (16:9)</PresentationFormat>
  <Paragraphs>416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A. Larhlimi</cp:lastModifiedBy>
  <cp:revision>2</cp:revision>
  <dcterms:created xsi:type="dcterms:W3CDTF">2025-11-11T03:21:20Z</dcterms:created>
  <dcterms:modified xsi:type="dcterms:W3CDTF">2025-11-11T03:26:33Z</dcterms:modified>
</cp:coreProperties>
</file>